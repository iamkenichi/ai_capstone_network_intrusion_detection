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outcome and the recommendation. Signal early that this is a decision-support tool, so nobody leaves thinking we are proposing to let software block traffic on its 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A haystack graphic — millions of grey connections, a handful of red ones. No numbers on the slide itself.]</a:t>
            </a:r>
          </a:p>
          <a:p/>
          <a:p>
            <a:r>
              <a:t>Avoid jargon entirely. The question this slide should raise in the audience's mind is "so how do we find the red 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Simple two-column comparison: "Missed attack" (breach, dwell time, regulatory exposure) vs "False alarm" (wasted analyst hours, eroded trust).]</a:t>
            </a:r>
          </a:p>
          <a:p/>
          <a:p>
            <a:r>
              <a:t>The alert-fatigue point usually lands hardest with this audience. Emphasise that a detector producing more alerts than we can process does not degrade gracefully — it fails completely, because people stop reading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Simple pipeline: Network traffic → Risk scoring → Ranked queue → Analyst → Action. One row, five boxes.]</a:t>
            </a:r>
          </a:p>
          <a:p/>
          <a:p>
            <a:r>
              <a:t>The privacy point is worth stating unprompted: the system reads connection statistics, not message contents. It usually pre-empts the first question from legal or from the works council.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Four large stat tiles: attacks caught, attacks missed, normal traffic flagged, speed. figures/fig16_model_comparison.png (middle panel only) as support.]</a:t>
            </a:r>
          </a:p>
          <a:p/>
          <a:p>
            <a:r>
              <a:t>Give the honest caveat here rather than burying it: the test data has far more attacks than a real network does, so the "how many of our alerts are real" figure will be worse in production. What does carry over is the detection rate and the share of normal traffic flagged.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Four value tiles with icons. Deliberately no ROI figure.]</a:t>
            </a:r>
          </a:p>
          <a:p/>
          <a:p>
            <a:r>
              <a:t>If asked for a financial ROI: we can build one from our own analyst cost and incident history, but the honest position today is that we have not measured it on our own network, and we are not going to present an invented number.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figures/fig17_threshold_analysis.png, left panel only, relabelled in plain language ("attacks caught" / "false alarms").]</a:t>
            </a:r>
          </a:p>
          <a:p/>
          <a:p>
            <a:r>
              <a:t>This is the slide that needs a decision from the room. Present the two settings and ask which the SOC can actually staff. Be clear the daily volume is an illustration, not a measurement of our network.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A mocked-up alert card showing score, risk band, and three plain-English reasons.]</a:t>
            </a:r>
          </a:p>
          <a:p/>
          <a:p>
            <a:r>
              <a:t>Explainability is a governance requirement, not a nice-to-have. Add that the same analysis told us about a weakness in our own test data — which is how we know the process is working rather than just producing flattering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Three-phase timeline with a decision gate between each phase.]</a:t>
            </a:r>
          </a:p>
          <a:p/>
          <a:p>
            <a:r>
              <a:t>The shadow-mode phase is non-negotiable and is also the easiest thing to approve — it carries no operational risk and produces the number we actually need.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Five numbered takeaways, generous white space, the ask highlighted.]</a:t>
            </a:r>
          </a:p>
          <a:p/>
          <a:p>
            <a:r>
              <a:t>Close on the specific ask: approval for the shadow-mode pilot. That is the only decision needed today, and it is a low-risk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6517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0545775" cy="1737360"/>
          </a:xfrm>
          <a:prstGeom prst="rect">
            <a:avLst/>
          </a:prstGeom>
          <a:noFill/>
        </p:spPr>
        <p:txBody>
          <a:bodyPr wrap="square">
            <a:spAutoFit/>
          </a:bodyPr>
          <a:lstStyle/>
          <a:p>
            <a:r>
              <a:rPr sz="3400" b="1">
                <a:solidFill>
                  <a:srgbClr val="FFFFFF"/>
                </a:solidFill>
              </a:rPr>
              <a:t>Machine Learning-Based Network Intrusion Detection and Anomaly Classification</a:t>
            </a:r>
          </a:p>
          <a:p>
            <a:r>
              <a:rPr sz="1700">
                <a:solidFill>
                  <a:srgbClr val="D55E00"/>
                </a:solidFill>
              </a:rPr>
              <a:t>Executive Briefing  ·  Security Leadership</a:t>
            </a:r>
          </a:p>
        </p:txBody>
      </p:sp>
      <p:sp>
        <p:nvSpPr>
          <p:cNvPr id="4" name="TextBox 3"/>
          <p:cNvSpPr txBox="1"/>
          <p:nvPr/>
        </p:nvSpPr>
        <p:spPr>
          <a:xfrm>
            <a:off x="822960" y="3017520"/>
            <a:ext cx="10545775" cy="2743200"/>
          </a:xfrm>
          <a:prstGeom prst="rect">
            <a:avLst/>
          </a:prstGeom>
          <a:noFill/>
        </p:spPr>
        <p:txBody>
          <a:bodyPr wrap="square">
            <a:spAutoFit/>
          </a:bodyPr>
          <a:lstStyle/>
          <a:p>
            <a:pPr>
              <a:spcAft>
                <a:spcPts val="900"/>
              </a:spcAft>
            </a:pPr>
            <a:r>
              <a:rPr sz="1500">
                <a:solidFill>
                  <a:srgbClr val="333333"/>
                </a:solidFill>
              </a:rPr>
              <a:t>•  Automated Detection of Malicious Network Activity</a:t>
            </a:r>
          </a:p>
          <a:p>
            <a:pPr>
              <a:spcAft>
                <a:spcPts val="900"/>
              </a:spcAft>
            </a:pPr>
            <a:r>
              <a:rPr sz="1500">
                <a:solidFill>
                  <a:srgbClr val="333333"/>
                </a:solidFill>
              </a:rPr>
              <a:t>•  A machine-learning layer that reviews every network connection and ranks the suspicious ones for analysts</a:t>
            </a:r>
          </a:p>
          <a:p>
            <a:pPr>
              <a:spcAft>
                <a:spcPts val="900"/>
              </a:spcAft>
            </a:pPr>
            <a:r>
              <a:rPr sz="1500">
                <a:solidFill>
                  <a:srgbClr val="333333"/>
                </a:solidFill>
              </a:rPr>
              <a:t>•  Proof-of-concept result: 91% of attacks detected, with 7.14% of normal traffic flagged for review</a:t>
            </a:r>
          </a:p>
          <a:p>
            <a:pPr>
              <a:spcAft>
                <a:spcPts val="900"/>
              </a:spcAft>
            </a:pPr>
            <a:r>
              <a:rPr sz="1500">
                <a:solidFill>
                  <a:srgbClr val="333333"/>
                </a:solidFill>
              </a:rPr>
              <a:t>•  Recommendation: deploy as an analyst assistant, not an automated gatekeeper</a:t>
            </a:r>
          </a:p>
        </p:txBody>
      </p:sp>
      <p:sp>
        <p:nvSpPr>
          <p:cNvPr id="5" name="TextBox 4"/>
          <p:cNvSpPr txBox="1"/>
          <p:nvPr/>
        </p:nvSpPr>
        <p:spPr>
          <a:xfrm>
            <a:off x="822960" y="5943600"/>
            <a:ext cx="10545775" cy="548640"/>
          </a:xfrm>
          <a:prstGeom prst="rect">
            <a:avLst/>
          </a:prstGeom>
          <a:noFill/>
        </p:spPr>
        <p:txBody>
          <a:bodyPr wrap="square">
            <a:spAutoFit/>
          </a:bodyPr>
          <a:lstStyle/>
          <a:p>
            <a:r>
              <a:rPr sz="1200">
                <a:solidFill>
                  <a:srgbClr val="555555"/>
                </a:solidFill>
              </a:rPr>
              <a:t>Arne Ramos   ·   16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The Cybersecurity Problem</a:t>
            </a:r>
          </a:p>
        </p:txBody>
      </p:sp>
      <p:sp>
        <p:nvSpPr>
          <p:cNvPr id="4" name="TextBox 3"/>
          <p:cNvSpPr txBox="1"/>
          <p:nvPr/>
        </p:nvSpPr>
        <p:spPr>
          <a:xfrm>
            <a:off x="566928" y="1325880"/>
            <a:ext cx="11057839"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Our network records </a:t>
            </a:r>
            <a:r>
              <a:rPr sz="1500" b="1">
                <a:solidFill>
                  <a:srgbClr val="2A2A2A"/>
                </a:solidFill>
              </a:rPr>
              <a:t>millions of connections every day</a:t>
            </a:r>
          </a:p>
          <a:p>
            <a:pPr>
              <a:spcAft>
                <a:spcPts val="800"/>
              </a:spcAft>
            </a:pPr>
            <a:r>
              <a:rPr sz="1500" b="0">
                <a:solidFill>
                  <a:srgbClr val="2A2A2A"/>
                </a:solidFill>
              </a:rPr>
              <a:t>•  </a:t>
            </a:r>
            <a:r>
              <a:rPr sz="1500" b="0">
                <a:solidFill>
                  <a:srgbClr val="2A2A2A"/>
                </a:solidFill>
              </a:rPr>
              <a:t>A small number of them are an attacker probing, spreading, or taking data out</a:t>
            </a:r>
          </a:p>
          <a:p>
            <a:pPr>
              <a:spcAft>
                <a:spcPts val="800"/>
              </a:spcAft>
            </a:pPr>
            <a:r>
              <a:rPr sz="1500" b="0">
                <a:solidFill>
                  <a:srgbClr val="2A2A2A"/>
                </a:solidFill>
              </a:rPr>
              <a:t>•  </a:t>
            </a:r>
            <a:r>
              <a:rPr sz="1500" b="0">
                <a:solidFill>
                  <a:srgbClr val="2A2A2A"/>
                </a:solidFill>
              </a:rPr>
              <a:t>No team can review them all — reviewing one second each would take a century of staff time per day</a:t>
            </a:r>
          </a:p>
          <a:p>
            <a:pPr>
              <a:spcAft>
                <a:spcPts val="800"/>
              </a:spcAft>
            </a:pPr>
            <a:r>
              <a:rPr sz="1500" b="0">
                <a:solidFill>
                  <a:srgbClr val="2A2A2A"/>
                </a:solidFill>
              </a:rPr>
              <a:t>•  </a:t>
            </a:r>
            <a:r>
              <a:rPr sz="1500" b="0">
                <a:solidFill>
                  <a:srgbClr val="2A2A2A"/>
                </a:solidFill>
              </a:rPr>
              <a:t>Today we rely on rules that recognise </a:t>
            </a:r>
            <a:r>
              <a:rPr sz="1500" b="1">
                <a:solidFill>
                  <a:srgbClr val="2A2A2A"/>
                </a:solidFill>
              </a:rPr>
              <a:t>known</a:t>
            </a:r>
            <a:r>
              <a:rPr sz="1500" b="0">
                <a:solidFill>
                  <a:srgbClr val="2A2A2A"/>
                </a:solidFill>
              </a:rPr>
              <a:t> attacks. They work, and they are blind to anything new</a:t>
            </a:r>
          </a:p>
        </p:txBody>
      </p:sp>
      <p:sp>
        <p:nvSpPr>
          <p:cNvPr id="5" name="TextBox 4"/>
          <p:cNvSpPr txBox="1"/>
          <p:nvPr/>
        </p:nvSpPr>
        <p:spPr>
          <a:xfrm>
            <a:off x="10957255" y="6355080"/>
            <a:ext cx="822960" cy="320040"/>
          </a:xfrm>
          <a:prstGeom prst="rect">
            <a:avLst/>
          </a:prstGeom>
          <a:noFill/>
        </p:spPr>
        <p:txBody>
          <a:bodyPr wrap="square">
            <a:spAutoFit/>
          </a:bodyPr>
          <a:lstStyle/>
          <a:p>
            <a:pPr algn="r"/>
            <a:r>
              <a:rPr sz="1000">
                <a:solidFill>
                  <a:srgbClr val="555555"/>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Why Existing Monitoring Is Difficult</a:t>
            </a:r>
          </a:p>
        </p:txBody>
      </p:sp>
      <p:sp>
        <p:nvSpPr>
          <p:cNvPr id="4" name="TextBox 3"/>
          <p:cNvSpPr txBox="1"/>
          <p:nvPr/>
        </p:nvSpPr>
        <p:spPr>
          <a:xfrm>
            <a:off x="566928" y="1325880"/>
            <a:ext cx="11057839" cy="4846320"/>
          </a:xfrm>
          <a:prstGeom prst="rect">
            <a:avLst/>
          </a:prstGeom>
          <a:noFill/>
        </p:spPr>
        <p:txBody>
          <a:bodyPr wrap="square">
            <a:spAutoFit/>
          </a:bodyPr>
          <a:lstStyle/>
          <a:p>
            <a:pPr>
              <a:spcAft>
                <a:spcPts val="800"/>
              </a:spcAft>
            </a:pPr>
            <a:r>
              <a:rPr sz="1500" b="0">
                <a:solidFill>
                  <a:srgbClr val="2A2A2A"/>
                </a:solidFill>
              </a:rPr>
              <a:t>•  </a:t>
            </a:r>
            <a:r>
              <a:rPr sz="1500" b="1">
                <a:solidFill>
                  <a:srgbClr val="2A2A2A"/>
                </a:solidFill>
              </a:rPr>
              <a:t>Rules only catch what we have already seen.</a:t>
            </a:r>
            <a:r>
              <a:rPr sz="1500" b="0">
                <a:solidFill>
                  <a:srgbClr val="2A2A2A"/>
                </a:solidFill>
              </a:rPr>
              <a:t> A new tool or technique passes straight through</a:t>
            </a:r>
          </a:p>
          <a:p>
            <a:pPr>
              <a:spcAft>
                <a:spcPts val="800"/>
              </a:spcAft>
            </a:pPr>
            <a:r>
              <a:rPr sz="1500" b="0">
                <a:solidFill>
                  <a:srgbClr val="2A2A2A"/>
                </a:solidFill>
              </a:rPr>
              <a:t>•  </a:t>
            </a:r>
            <a:r>
              <a:rPr sz="1500" b="1">
                <a:solidFill>
                  <a:srgbClr val="2A2A2A"/>
                </a:solidFill>
              </a:rPr>
              <a:t>Volume beats people.</a:t>
            </a:r>
            <a:r>
              <a:rPr sz="1500" b="0">
                <a:solidFill>
                  <a:srgbClr val="2A2A2A"/>
                </a:solidFill>
              </a:rPr>
              <a:t> Analyst capacity is fixed; traffic is not</a:t>
            </a:r>
          </a:p>
          <a:p>
            <a:pPr>
              <a:spcAft>
                <a:spcPts val="800"/>
              </a:spcAft>
            </a:pPr>
            <a:r>
              <a:rPr sz="1500" b="0">
                <a:solidFill>
                  <a:srgbClr val="2A2A2A"/>
                </a:solidFill>
              </a:rPr>
              <a:t>•  </a:t>
            </a:r>
            <a:r>
              <a:rPr sz="1500" b="1">
                <a:solidFill>
                  <a:srgbClr val="2A2A2A"/>
                </a:solidFill>
              </a:rPr>
              <a:t>Too many alerts is as bad as too few.</a:t>
            </a:r>
            <a:r>
              <a:rPr sz="1500" b="0">
                <a:solidFill>
                  <a:srgbClr val="2A2A2A"/>
                </a:solidFill>
              </a:rPr>
              <a:t> A team that cannot work its queue stops trusting it — and real attacks get closed unread</a:t>
            </a:r>
          </a:p>
          <a:p>
            <a:pPr>
              <a:spcAft>
                <a:spcPts val="800"/>
              </a:spcAft>
            </a:pPr>
            <a:r>
              <a:rPr sz="1500" b="0">
                <a:solidFill>
                  <a:srgbClr val="2A2A2A"/>
                </a:solidFill>
              </a:rPr>
              <a:t>•  </a:t>
            </a:r>
            <a:r>
              <a:rPr sz="1500" b="0">
                <a:solidFill>
                  <a:srgbClr val="2A2A2A"/>
                </a:solidFill>
              </a:rPr>
              <a:t>The cost of the two mistakes is very different, and both are real</a:t>
            </a:r>
          </a:p>
        </p:txBody>
      </p:sp>
      <p:sp>
        <p:nvSpPr>
          <p:cNvPr id="5" name="TextBox 4"/>
          <p:cNvSpPr txBox="1"/>
          <p:nvPr/>
        </p:nvSpPr>
        <p:spPr>
          <a:xfrm>
            <a:off x="10957255" y="6355080"/>
            <a:ext cx="822960" cy="320040"/>
          </a:xfrm>
          <a:prstGeom prst="rect">
            <a:avLst/>
          </a:prstGeom>
          <a:noFill/>
        </p:spPr>
        <p:txBody>
          <a:bodyPr wrap="square">
            <a:spAutoFit/>
          </a:bodyPr>
          <a:lstStyle/>
          <a:p>
            <a:pPr algn="r"/>
            <a:r>
              <a:rPr sz="1000">
                <a:solidFill>
                  <a:srgbClr val="555555"/>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The Proposed Solution</a:t>
            </a:r>
          </a:p>
        </p:txBody>
      </p:sp>
      <p:sp>
        <p:nvSpPr>
          <p:cNvPr id="4" name="TextBox 3"/>
          <p:cNvSpPr txBox="1"/>
          <p:nvPr/>
        </p:nvSpPr>
        <p:spPr>
          <a:xfrm>
            <a:off x="566928" y="1325880"/>
            <a:ext cx="11057839"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Software that learns what attacks </a:t>
            </a:r>
            <a:r>
              <a:rPr sz="1500" b="1">
                <a:solidFill>
                  <a:srgbClr val="2A2A2A"/>
                </a:solidFill>
              </a:rPr>
              <a:t>look like</a:t>
            </a:r>
            <a:r>
              <a:rPr sz="1500" b="0">
                <a:solidFill>
                  <a:srgbClr val="2A2A2A"/>
                </a:solidFill>
              </a:rPr>
              <a:t> from thousands of past examples</a:t>
            </a:r>
          </a:p>
          <a:p>
            <a:pPr>
              <a:spcAft>
                <a:spcPts val="800"/>
              </a:spcAft>
            </a:pPr>
            <a:r>
              <a:rPr sz="1500" b="0">
                <a:solidFill>
                  <a:srgbClr val="2A2A2A"/>
                </a:solidFill>
              </a:rPr>
              <a:t>•  </a:t>
            </a:r>
            <a:r>
              <a:rPr sz="1500" b="0">
                <a:solidFill>
                  <a:srgbClr val="2A2A2A"/>
                </a:solidFill>
              </a:rPr>
              <a:t>It examines the shape of each connection — how long, how much data, which direction, whether the other side answered — and never reads message contents</a:t>
            </a:r>
          </a:p>
          <a:p>
            <a:pPr>
              <a:spcAft>
                <a:spcPts val="800"/>
              </a:spcAft>
            </a:pPr>
            <a:r>
              <a:rPr sz="1500" b="0">
                <a:solidFill>
                  <a:srgbClr val="2A2A2A"/>
                </a:solidFill>
              </a:rPr>
              <a:t>•  </a:t>
            </a:r>
            <a:r>
              <a:rPr sz="1500" b="0">
                <a:solidFill>
                  <a:srgbClr val="2A2A2A"/>
                </a:solidFill>
              </a:rPr>
              <a:t>Every connection gets a </a:t>
            </a:r>
            <a:r>
              <a:rPr sz="1500" b="1">
                <a:solidFill>
                  <a:srgbClr val="2A2A2A"/>
                </a:solidFill>
              </a:rPr>
              <a:t>risk score</a:t>
            </a:r>
            <a:r>
              <a:rPr sz="1500" b="0">
                <a:solidFill>
                  <a:srgbClr val="2A2A2A"/>
                </a:solidFill>
              </a:rPr>
              <a:t> and a </a:t>
            </a:r>
            <a:r>
              <a:rPr sz="1500" b="1">
                <a:solidFill>
                  <a:srgbClr val="2A2A2A"/>
                </a:solidFill>
              </a:rPr>
              <a:t>plain-English reason</a:t>
            </a:r>
          </a:p>
          <a:p>
            <a:pPr>
              <a:spcAft>
                <a:spcPts val="800"/>
              </a:spcAft>
            </a:pPr>
            <a:r>
              <a:rPr sz="1500" b="0">
                <a:solidFill>
                  <a:srgbClr val="2A2A2A"/>
                </a:solidFill>
              </a:rPr>
              <a:t>•  </a:t>
            </a:r>
            <a:r>
              <a:rPr sz="1500" b="0">
                <a:solidFill>
                  <a:srgbClr val="2A2A2A"/>
                </a:solidFill>
              </a:rPr>
              <a:t>Analysts start at the top of a ranked list instead of searching a haystack</a:t>
            </a:r>
          </a:p>
        </p:txBody>
      </p:sp>
      <p:sp>
        <p:nvSpPr>
          <p:cNvPr id="5" name="TextBox 4"/>
          <p:cNvSpPr txBox="1"/>
          <p:nvPr/>
        </p:nvSpPr>
        <p:spPr>
          <a:xfrm>
            <a:off x="10957255" y="6355080"/>
            <a:ext cx="822960" cy="320040"/>
          </a:xfrm>
          <a:prstGeom prst="rect">
            <a:avLst/>
          </a:prstGeom>
          <a:noFill/>
        </p:spPr>
        <p:txBody>
          <a:bodyPr wrap="square">
            <a:spAutoFit/>
          </a:bodyPr>
          <a:lstStyle/>
          <a:p>
            <a:pPr algn="r"/>
            <a:r>
              <a:rPr sz="1000">
                <a:solidFill>
                  <a:srgbClr val="555555"/>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Detection Performance</a:t>
            </a:r>
          </a:p>
        </p:txBody>
      </p:sp>
      <p:sp>
        <p:nvSpPr>
          <p:cNvPr id="4" name="TextBox 3"/>
          <p:cNvSpPr txBox="1"/>
          <p:nvPr/>
        </p:nvSpPr>
        <p:spPr>
          <a:xfrm>
            <a:off x="566928" y="1325880"/>
            <a:ext cx="5577840"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Tested on </a:t>
            </a:r>
            <a:r>
              <a:rPr sz="1500" b="1">
                <a:solidFill>
                  <a:srgbClr val="2A2A2A"/>
                </a:solidFill>
              </a:rPr>
              <a:t>30,737 connections the system had never seen</a:t>
            </a:r>
          </a:p>
          <a:p>
            <a:pPr>
              <a:spcAft>
                <a:spcPts val="800"/>
              </a:spcAft>
            </a:pPr>
            <a:r>
              <a:rPr sz="1500" b="0">
                <a:solidFill>
                  <a:srgbClr val="2A2A2A"/>
                </a:solidFill>
              </a:rPr>
              <a:t>•  </a:t>
            </a:r>
            <a:r>
              <a:rPr sz="1500" b="1">
                <a:solidFill>
                  <a:srgbClr val="2A2A2A"/>
                </a:solidFill>
              </a:rPr>
              <a:t>Caught 12,430 of 13,642 attacks</a:t>
            </a:r>
            <a:r>
              <a:rPr sz="1500" b="0">
                <a:solidFill>
                  <a:srgbClr val="2A2A2A"/>
                </a:solidFill>
              </a:rPr>
              <a:t> (91.1%)</a:t>
            </a:r>
          </a:p>
          <a:p>
            <a:pPr>
              <a:spcAft>
                <a:spcPts val="800"/>
              </a:spcAft>
            </a:pPr>
            <a:r>
              <a:rPr sz="1500" b="0">
                <a:solidFill>
                  <a:srgbClr val="2A2A2A"/>
                </a:solidFill>
              </a:rPr>
              <a:t>•  </a:t>
            </a:r>
            <a:r>
              <a:rPr sz="1500" b="1">
                <a:solidFill>
                  <a:srgbClr val="2A2A2A"/>
                </a:solidFill>
              </a:rPr>
              <a:t>Missed 1,212</a:t>
            </a:r>
            <a:r>
              <a:rPr sz="1500" b="0">
                <a:solidFill>
                  <a:srgbClr val="2A2A2A"/>
                </a:solidFill>
              </a:rPr>
              <a:t> (8.9%)</a:t>
            </a:r>
          </a:p>
          <a:p>
            <a:pPr>
              <a:spcAft>
                <a:spcPts val="800"/>
              </a:spcAft>
            </a:pPr>
            <a:r>
              <a:rPr sz="1500" b="0">
                <a:solidFill>
                  <a:srgbClr val="2A2A2A"/>
                </a:solidFill>
              </a:rPr>
              <a:t>•  </a:t>
            </a:r>
            <a:r>
              <a:rPr sz="1500" b="0">
                <a:solidFill>
                  <a:srgbClr val="2A2A2A"/>
                </a:solidFill>
              </a:rPr>
              <a:t>Flagged </a:t>
            </a:r>
            <a:r>
              <a:rPr sz="1500" b="1">
                <a:solidFill>
                  <a:srgbClr val="2A2A2A"/>
                </a:solidFill>
              </a:rPr>
              <a:t>1,221 of 17,095 normal connections</a:t>
            </a:r>
            <a:r>
              <a:rPr sz="1500" b="0">
                <a:solidFill>
                  <a:srgbClr val="2A2A2A"/>
                </a:solidFill>
              </a:rPr>
              <a:t> for review (7.14%)</a:t>
            </a:r>
          </a:p>
          <a:p>
            <a:pPr>
              <a:spcAft>
                <a:spcPts val="800"/>
              </a:spcAft>
            </a:pPr>
            <a:r>
              <a:rPr sz="1500" b="0">
                <a:solidFill>
                  <a:srgbClr val="2A2A2A"/>
                </a:solidFill>
              </a:rPr>
              <a:t>•  </a:t>
            </a:r>
            <a:r>
              <a:rPr sz="1500" b="0">
                <a:solidFill>
                  <a:srgbClr val="2A2A2A"/>
                </a:solidFill>
              </a:rPr>
              <a:t>Fast enough to keep up with our traffic on ordinary hardware — no special equipment needed</a:t>
            </a:r>
          </a:p>
        </p:txBody>
      </p:sp>
      <p:pic>
        <p:nvPicPr>
          <p:cNvPr id="5" name="Picture 4" descr="fig16_model_comparison.png"/>
          <p:cNvPicPr>
            <a:picLocks noChangeAspect="1"/>
          </p:cNvPicPr>
          <p:nvPr/>
        </p:nvPicPr>
        <p:blipFill>
          <a:blip r:embed="rId2"/>
          <a:stretch>
            <a:fillRect/>
          </a:stretch>
        </p:blipFill>
        <p:spPr>
          <a:xfrm>
            <a:off x="6355080" y="1463040"/>
            <a:ext cx="5269687" cy="1758034"/>
          </a:xfrm>
          <a:prstGeom prst="rect">
            <a:avLst/>
          </a:prstGeom>
        </p:spPr>
      </p:pic>
      <p:sp>
        <p:nvSpPr>
          <p:cNvPr id="6" name="TextBox 5"/>
          <p:cNvSpPr txBox="1"/>
          <p:nvPr/>
        </p:nvSpPr>
        <p:spPr>
          <a:xfrm>
            <a:off x="10957255" y="6355080"/>
            <a:ext cx="822960" cy="320040"/>
          </a:xfrm>
          <a:prstGeom prst="rect">
            <a:avLst/>
          </a:prstGeom>
          <a:noFill/>
        </p:spPr>
        <p:txBody>
          <a:bodyPr wrap="square">
            <a:spAutoFit/>
          </a:bodyPr>
          <a:lstStyle/>
          <a:p>
            <a:pPr algn="r"/>
            <a:r>
              <a:rPr sz="1000">
                <a:solidFill>
                  <a:srgbClr val="555555"/>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Business and Security Value</a:t>
            </a:r>
          </a:p>
        </p:txBody>
      </p:sp>
      <p:sp>
        <p:nvSpPr>
          <p:cNvPr id="4" name="TextBox 3"/>
          <p:cNvSpPr txBox="1"/>
          <p:nvPr/>
        </p:nvSpPr>
        <p:spPr>
          <a:xfrm>
            <a:off x="566928" y="1325880"/>
            <a:ext cx="11057839" cy="4846320"/>
          </a:xfrm>
          <a:prstGeom prst="rect">
            <a:avLst/>
          </a:prstGeom>
          <a:noFill/>
        </p:spPr>
        <p:txBody>
          <a:bodyPr wrap="square">
            <a:spAutoFit/>
          </a:bodyPr>
          <a:lstStyle/>
          <a:p>
            <a:pPr>
              <a:spcAft>
                <a:spcPts val="800"/>
              </a:spcAft>
            </a:pPr>
            <a:r>
              <a:rPr sz="1500" b="0">
                <a:solidFill>
                  <a:srgbClr val="2A2A2A"/>
                </a:solidFill>
              </a:rPr>
              <a:t>•  </a:t>
            </a:r>
            <a:r>
              <a:rPr sz="1500" b="1">
                <a:solidFill>
                  <a:srgbClr val="2A2A2A"/>
                </a:solidFill>
              </a:rPr>
              <a:t>Faster detection.</a:t>
            </a:r>
            <a:r>
              <a:rPr sz="1500" b="0">
                <a:solidFill>
                  <a:srgbClr val="2A2A2A"/>
                </a:solidFill>
              </a:rPr>
              <a:t> Time-to-detection is the variable most strongly linked to breach cost — every hour saved limits the damage</a:t>
            </a:r>
          </a:p>
          <a:p>
            <a:pPr>
              <a:spcAft>
                <a:spcPts val="800"/>
              </a:spcAft>
            </a:pPr>
            <a:r>
              <a:rPr sz="1500" b="0">
                <a:solidFill>
                  <a:srgbClr val="2A2A2A"/>
                </a:solidFill>
              </a:rPr>
              <a:t>•  </a:t>
            </a:r>
            <a:r>
              <a:rPr sz="1500" b="1">
                <a:solidFill>
                  <a:srgbClr val="2A2A2A"/>
                </a:solidFill>
              </a:rPr>
              <a:t>Coverage for unknown attacks.</a:t>
            </a:r>
            <a:r>
              <a:rPr sz="1500" b="0">
                <a:solidFill>
                  <a:srgbClr val="2A2A2A"/>
                </a:solidFill>
              </a:rPr>
              <a:t> Catches suspicious behaviour, not just known signatures</a:t>
            </a:r>
          </a:p>
          <a:p>
            <a:pPr>
              <a:spcAft>
                <a:spcPts val="800"/>
              </a:spcAft>
            </a:pPr>
            <a:r>
              <a:rPr sz="1500" b="0">
                <a:solidFill>
                  <a:srgbClr val="2A2A2A"/>
                </a:solidFill>
              </a:rPr>
              <a:t>•  </a:t>
            </a:r>
            <a:r>
              <a:rPr sz="1500" b="1">
                <a:solidFill>
                  <a:srgbClr val="2A2A2A"/>
                </a:solidFill>
              </a:rPr>
              <a:t>Better use of analyst time.</a:t>
            </a:r>
            <a:r>
              <a:rPr sz="1500" b="0">
                <a:solidFill>
                  <a:srgbClr val="2A2A2A"/>
                </a:solidFill>
              </a:rPr>
              <a:t> A ranked, explained queue replaces undirected searching</a:t>
            </a:r>
          </a:p>
          <a:p>
            <a:pPr>
              <a:spcAft>
                <a:spcPts val="800"/>
              </a:spcAft>
            </a:pPr>
            <a:r>
              <a:rPr sz="1500" b="0">
                <a:solidFill>
                  <a:srgbClr val="2A2A2A"/>
                </a:solidFill>
              </a:rPr>
              <a:t>•  </a:t>
            </a:r>
            <a:r>
              <a:rPr sz="1500" b="1">
                <a:solidFill>
                  <a:srgbClr val="2A2A2A"/>
                </a:solidFill>
              </a:rPr>
              <a:t>Quantified risk.</a:t>
            </a:r>
            <a:r>
              <a:rPr sz="1500" b="0">
                <a:solidFill>
                  <a:srgbClr val="2A2A2A"/>
                </a:solidFill>
              </a:rPr>
              <a:t> We can finally answer "what fraction of attacks of this kind do we catch?" with a measured number</a:t>
            </a:r>
          </a:p>
          <a:p>
            <a:pPr>
              <a:spcAft>
                <a:spcPts val="800"/>
              </a:spcAft>
            </a:pPr>
            <a:r>
              <a:rPr sz="1500" b="0">
                <a:solidFill>
                  <a:srgbClr val="2A2A2A"/>
                </a:solidFill>
              </a:rPr>
              <a:t>•  </a:t>
            </a:r>
            <a:r>
              <a:rPr sz="1500" b="1">
                <a:solidFill>
                  <a:srgbClr val="2A2A2A"/>
                </a:solidFill>
              </a:rPr>
              <a:t>Consistency.</a:t>
            </a:r>
            <a:r>
              <a:rPr sz="1500" b="0">
                <a:solidFill>
                  <a:srgbClr val="2A2A2A"/>
                </a:solidFill>
              </a:rPr>
              <a:t> The same judgement applied to the ten-thousandth connection of a night shift as to the first</a:t>
            </a:r>
          </a:p>
        </p:txBody>
      </p:sp>
      <p:sp>
        <p:nvSpPr>
          <p:cNvPr id="5" name="TextBox 4"/>
          <p:cNvSpPr txBox="1"/>
          <p:nvPr/>
        </p:nvSpPr>
        <p:spPr>
          <a:xfrm>
            <a:off x="10957255" y="6355080"/>
            <a:ext cx="822960" cy="320040"/>
          </a:xfrm>
          <a:prstGeom prst="rect">
            <a:avLst/>
          </a:prstGeom>
          <a:noFill/>
        </p:spPr>
        <p:txBody>
          <a:bodyPr wrap="square">
            <a:spAutoFit/>
          </a:bodyPr>
          <a:lstStyle/>
          <a:p>
            <a:pPr algn="r"/>
            <a:r>
              <a:rPr sz="1000">
                <a:solidFill>
                  <a:srgbClr val="555555"/>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The Trade-off We Control</a:t>
            </a:r>
          </a:p>
        </p:txBody>
      </p:sp>
      <p:sp>
        <p:nvSpPr>
          <p:cNvPr id="4" name="TextBox 3"/>
          <p:cNvSpPr txBox="1"/>
          <p:nvPr/>
        </p:nvSpPr>
        <p:spPr>
          <a:xfrm>
            <a:off x="566928" y="1325880"/>
            <a:ext cx="5577840"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There is a dial. Turning it up catches more attacks and generates more false alarms; turning it down does the reverse</a:t>
            </a:r>
          </a:p>
          <a:p>
            <a:pPr>
              <a:spcAft>
                <a:spcPts val="800"/>
              </a:spcAft>
            </a:pPr>
            <a:r>
              <a:rPr sz="1500" b="0">
                <a:solidFill>
                  <a:srgbClr val="2A2A2A"/>
                </a:solidFill>
              </a:rPr>
              <a:t>•  </a:t>
            </a:r>
            <a:r>
              <a:rPr sz="1500" b="1">
                <a:solidFill>
                  <a:srgbClr val="2A2A2A"/>
                </a:solidFill>
              </a:rPr>
              <a:t>This is a business decision about analyst capacity, not a technical one</a:t>
            </a:r>
          </a:p>
          <a:p>
            <a:pPr>
              <a:spcAft>
                <a:spcPts val="800"/>
              </a:spcAft>
            </a:pPr>
            <a:r>
              <a:rPr sz="1500" b="0">
                <a:solidFill>
                  <a:srgbClr val="2A2A2A"/>
                </a:solidFill>
              </a:rPr>
              <a:t>•  </a:t>
            </a:r>
            <a:r>
              <a:rPr sz="1500" b="0">
                <a:solidFill>
                  <a:srgbClr val="2A2A2A"/>
                </a:solidFill>
              </a:rPr>
              <a:t>At the recommended setting: 91% of attacks caught, 7.14% of normal traffic flagged</a:t>
            </a:r>
          </a:p>
          <a:p>
            <a:pPr>
              <a:spcAft>
                <a:spcPts val="800"/>
              </a:spcAft>
            </a:pPr>
            <a:r>
              <a:rPr sz="1500" b="0">
                <a:solidFill>
                  <a:srgbClr val="2A2A2A"/>
                </a:solidFill>
              </a:rPr>
              <a:t>•  </a:t>
            </a:r>
            <a:r>
              <a:rPr sz="1500" b="0">
                <a:solidFill>
                  <a:srgbClr val="2A2A2A"/>
                </a:solidFill>
              </a:rPr>
              <a:t>A tighter setting is available: it alerts on only 0.82% of normal traffic, at the cost of catching 77% of attacks instead of 91%</a:t>
            </a:r>
          </a:p>
          <a:p>
            <a:pPr>
              <a:spcAft>
                <a:spcPts val="800"/>
              </a:spcAft>
            </a:pPr>
            <a:r>
              <a:rPr sz="1500" b="0">
                <a:solidFill>
                  <a:srgbClr val="2A2A2A"/>
                </a:solidFill>
              </a:rPr>
              <a:t>•  </a:t>
            </a:r>
            <a:r>
              <a:rPr sz="1500" b="0">
                <a:solidFill>
                  <a:srgbClr val="2A2A2A"/>
                </a:solidFill>
              </a:rPr>
              <a:t>At our illustrative volume of 10 million connections a day, that recommended setting implies roughly </a:t>
            </a:r>
            <a:r>
              <a:rPr sz="1500" b="1">
                <a:solidFill>
                  <a:srgbClr val="2A2A2A"/>
                </a:solidFill>
              </a:rPr>
              <a:t>714,240 items to review per day</a:t>
            </a:r>
            <a:r>
              <a:rPr sz="1500" b="0">
                <a:solidFill>
                  <a:srgbClr val="2A2A2A"/>
                </a:solidFill>
              </a:rPr>
              <a:t> — which is exactly the number we must size the team against</a:t>
            </a:r>
          </a:p>
        </p:txBody>
      </p:sp>
      <p:pic>
        <p:nvPicPr>
          <p:cNvPr id="5" name="Picture 4" descr="fig17_threshold_analysis.png"/>
          <p:cNvPicPr>
            <a:picLocks noChangeAspect="1"/>
          </p:cNvPicPr>
          <p:nvPr/>
        </p:nvPicPr>
        <p:blipFill>
          <a:blip r:embed="rId2"/>
          <a:stretch>
            <a:fillRect/>
          </a:stretch>
        </p:blipFill>
        <p:spPr>
          <a:xfrm>
            <a:off x="6355080" y="1463040"/>
            <a:ext cx="5269687" cy="1746979"/>
          </a:xfrm>
          <a:prstGeom prst="rect">
            <a:avLst/>
          </a:prstGeom>
        </p:spPr>
      </p:pic>
      <p:sp>
        <p:nvSpPr>
          <p:cNvPr id="6" name="TextBox 5"/>
          <p:cNvSpPr txBox="1"/>
          <p:nvPr/>
        </p:nvSpPr>
        <p:spPr>
          <a:xfrm>
            <a:off x="10957255" y="6355080"/>
            <a:ext cx="822960" cy="320040"/>
          </a:xfrm>
          <a:prstGeom prst="rect">
            <a:avLst/>
          </a:prstGeom>
          <a:noFill/>
        </p:spPr>
        <p:txBody>
          <a:bodyPr wrap="square">
            <a:spAutoFit/>
          </a:bodyPr>
          <a:lstStyle/>
          <a:p>
            <a:pPr algn="r"/>
            <a:r>
              <a:rPr sz="1000">
                <a:solidFill>
                  <a:srgbClr val="555555"/>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Explainability and Governance</a:t>
            </a:r>
          </a:p>
        </p:txBody>
      </p:sp>
      <p:sp>
        <p:nvSpPr>
          <p:cNvPr id="4" name="TextBox 3"/>
          <p:cNvSpPr txBox="1"/>
          <p:nvPr/>
        </p:nvSpPr>
        <p:spPr>
          <a:xfrm>
            <a:off x="566928" y="1325880"/>
            <a:ext cx="11057839"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Every alert comes with </a:t>
            </a:r>
            <a:r>
              <a:rPr sz="1500" b="1">
                <a:solidFill>
                  <a:srgbClr val="2A2A2A"/>
                </a:solidFill>
              </a:rPr>
              <a:t>the specific reasons it was raised</a:t>
            </a:r>
            <a:r>
              <a:rPr sz="1500" b="0">
                <a:solidFill>
                  <a:srgbClr val="2A2A2A"/>
                </a:solidFill>
              </a:rPr>
              <a:t> — not just a score</a:t>
            </a:r>
          </a:p>
          <a:p>
            <a:pPr>
              <a:spcAft>
                <a:spcPts val="800"/>
              </a:spcAft>
            </a:pPr>
            <a:r>
              <a:rPr sz="1500" b="0">
                <a:solidFill>
                  <a:srgbClr val="2A2A2A"/>
                </a:solidFill>
              </a:rPr>
              <a:t>•  </a:t>
            </a:r>
            <a:r>
              <a:rPr sz="1500" b="0">
                <a:solidFill>
                  <a:srgbClr val="2A2A2A"/>
                </a:solidFill>
              </a:rPr>
              <a:t>Example: "1.2 MB sent, nothing returned, the connection never properly opened, and this source contacted 43 different services in the last few minutes"</a:t>
            </a:r>
          </a:p>
          <a:p>
            <a:pPr>
              <a:spcAft>
                <a:spcPts val="800"/>
              </a:spcAft>
            </a:pPr>
            <a:r>
              <a:rPr sz="1500" b="0">
                <a:solidFill>
                  <a:srgbClr val="2A2A2A"/>
                </a:solidFill>
              </a:rPr>
              <a:t>•  </a:t>
            </a:r>
            <a:r>
              <a:rPr sz="1500" b="0">
                <a:solidFill>
                  <a:srgbClr val="2A2A2A"/>
                </a:solidFill>
              </a:rPr>
              <a:t>Supports audit, regulatory review and analyst training</a:t>
            </a:r>
          </a:p>
          <a:p>
            <a:pPr>
              <a:spcAft>
                <a:spcPts val="800"/>
              </a:spcAft>
            </a:pPr>
            <a:r>
              <a:rPr sz="1500" b="0">
                <a:solidFill>
                  <a:srgbClr val="2A2A2A"/>
                </a:solidFill>
              </a:rPr>
              <a:t>•  </a:t>
            </a:r>
            <a:r>
              <a:rPr sz="1500" b="0">
                <a:solidFill>
                  <a:srgbClr val="2A2A2A"/>
                </a:solidFill>
              </a:rPr>
              <a:t>We can show </a:t>
            </a:r>
            <a:r>
              <a:rPr sz="1500" b="1">
                <a:solidFill>
                  <a:srgbClr val="2A2A2A"/>
                </a:solidFill>
              </a:rPr>
              <a:t>which attack types we detect well and which we do not</a:t>
            </a:r>
            <a:r>
              <a:rPr sz="1500" b="0">
                <a:solidFill>
                  <a:srgbClr val="2A2A2A"/>
                </a:solidFill>
              </a:rPr>
              <a:t> — and we do</a:t>
            </a:r>
          </a:p>
          <a:p>
            <a:pPr>
              <a:spcAft>
                <a:spcPts val="800"/>
              </a:spcAft>
            </a:pPr>
            <a:r>
              <a:rPr sz="1500" b="0">
                <a:solidFill>
                  <a:srgbClr val="2A2A2A"/>
                </a:solidFill>
              </a:rPr>
              <a:t>•  </a:t>
            </a:r>
            <a:r>
              <a:rPr sz="1500" b="0">
                <a:solidFill>
                  <a:srgbClr val="2A2A2A"/>
                </a:solidFill>
              </a:rPr>
              <a:t>Known limitations are documented rather than hidden</a:t>
            </a:r>
          </a:p>
        </p:txBody>
      </p:sp>
      <p:sp>
        <p:nvSpPr>
          <p:cNvPr id="5" name="TextBox 4"/>
          <p:cNvSpPr txBox="1"/>
          <p:nvPr/>
        </p:nvSpPr>
        <p:spPr>
          <a:xfrm>
            <a:off x="10957255" y="6355080"/>
            <a:ext cx="822960" cy="320040"/>
          </a:xfrm>
          <a:prstGeom prst="rect">
            <a:avLst/>
          </a:prstGeom>
          <a:noFill/>
        </p:spPr>
        <p:txBody>
          <a:bodyPr wrap="square">
            <a:spAutoFit/>
          </a:bodyPr>
          <a:lstStyle/>
          <a:p>
            <a:pPr algn="r"/>
            <a:r>
              <a:rPr sz="1000">
                <a:solidFill>
                  <a:srgbClr val="555555"/>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Deployment Recommendation</a:t>
            </a:r>
          </a:p>
        </p:txBody>
      </p:sp>
      <p:sp>
        <p:nvSpPr>
          <p:cNvPr id="4" name="TextBox 3"/>
          <p:cNvSpPr txBox="1"/>
          <p:nvPr/>
        </p:nvSpPr>
        <p:spPr>
          <a:xfrm>
            <a:off x="566928" y="1325880"/>
            <a:ext cx="11057839" cy="4846320"/>
          </a:xfrm>
          <a:prstGeom prst="rect">
            <a:avLst/>
          </a:prstGeom>
          <a:noFill/>
        </p:spPr>
        <p:txBody>
          <a:bodyPr wrap="square">
            <a:spAutoFit/>
          </a:bodyPr>
          <a:lstStyle/>
          <a:p>
            <a:pPr>
              <a:spcAft>
                <a:spcPts val="800"/>
              </a:spcAft>
            </a:pPr>
            <a:r>
              <a:rPr sz="1500" b="0">
                <a:solidFill>
                  <a:srgbClr val="2A2A2A"/>
                </a:solidFill>
              </a:rPr>
              <a:t>•  </a:t>
            </a:r>
            <a:r>
              <a:rPr sz="1500" b="1">
                <a:solidFill>
                  <a:srgbClr val="2A2A2A"/>
                </a:solidFill>
              </a:rPr>
              <a:t>Deploy as an analyst assistant.</a:t>
            </a:r>
            <a:r>
              <a:rPr sz="1500" b="0">
                <a:solidFill>
                  <a:srgbClr val="2A2A2A"/>
                </a:solidFill>
              </a:rPr>
              <a:t> It ranks and explains; people decide. It does </a:t>
            </a:r>
            <a:r>
              <a:rPr sz="1500" b="1">
                <a:solidFill>
                  <a:srgbClr val="2A2A2A"/>
                </a:solidFill>
              </a:rPr>
              <a:t>not</a:t>
            </a:r>
            <a:r>
              <a:rPr sz="1500" b="0">
                <a:solidFill>
                  <a:srgbClr val="2A2A2A"/>
                </a:solidFill>
              </a:rPr>
              <a:t> block traffic</a:t>
            </a:r>
          </a:p>
          <a:p>
            <a:pPr>
              <a:spcAft>
                <a:spcPts val="800"/>
              </a:spcAft>
            </a:pPr>
            <a:r>
              <a:rPr sz="1500" b="0">
                <a:solidFill>
                  <a:srgbClr val="2A2A2A"/>
                </a:solidFill>
              </a:rPr>
              <a:t>•  </a:t>
            </a:r>
            <a:r>
              <a:rPr sz="1500" b="1">
                <a:solidFill>
                  <a:srgbClr val="2A2A2A"/>
                </a:solidFill>
              </a:rPr>
              <a:t>Phase 1 — Shadow mode (4–6 weeks).</a:t>
            </a:r>
            <a:r>
              <a:rPr sz="1500" b="0">
                <a:solidFill>
                  <a:srgbClr val="2A2A2A"/>
                </a:solidFill>
              </a:rPr>
              <a:t> Run alongside existing tools, measure the real false-alarm rate on our own traffic. No analyst action</a:t>
            </a:r>
          </a:p>
          <a:p>
            <a:pPr>
              <a:spcAft>
                <a:spcPts val="800"/>
              </a:spcAft>
            </a:pPr>
            <a:r>
              <a:rPr sz="1500" b="0">
                <a:solidFill>
                  <a:srgbClr val="2A2A2A"/>
                </a:solidFill>
              </a:rPr>
              <a:t>•  </a:t>
            </a:r>
            <a:r>
              <a:rPr sz="1500" b="1">
                <a:solidFill>
                  <a:srgbClr val="2A2A2A"/>
                </a:solidFill>
              </a:rPr>
              <a:t>Phase 2 — Assisted triage.</a:t>
            </a:r>
            <a:r>
              <a:rPr sz="1500" b="0">
                <a:solidFill>
                  <a:srgbClr val="2A2A2A"/>
                </a:solidFill>
              </a:rPr>
              <a:t> Analysts work the ranked queue; every decision is captured</a:t>
            </a:r>
          </a:p>
          <a:p>
            <a:pPr>
              <a:spcAft>
                <a:spcPts val="800"/>
              </a:spcAft>
            </a:pPr>
            <a:r>
              <a:rPr sz="1500" b="0">
                <a:solidFill>
                  <a:srgbClr val="2A2A2A"/>
                </a:solidFill>
              </a:rPr>
              <a:t>•  </a:t>
            </a:r>
            <a:r>
              <a:rPr sz="1500" b="1">
                <a:solidFill>
                  <a:srgbClr val="2A2A2A"/>
                </a:solidFill>
              </a:rPr>
              <a:t>Phase 3 — Continuous improvement.</a:t>
            </a:r>
            <a:r>
              <a:rPr sz="1500" b="0">
                <a:solidFill>
                  <a:srgbClr val="2A2A2A"/>
                </a:solidFill>
              </a:rPr>
              <a:t> Retrain on our own data and analyst feedback; monitor for drift</a:t>
            </a:r>
          </a:p>
          <a:p>
            <a:pPr>
              <a:spcAft>
                <a:spcPts val="800"/>
              </a:spcAft>
            </a:pPr>
            <a:r>
              <a:rPr sz="1500" b="0">
                <a:solidFill>
                  <a:srgbClr val="2A2A2A"/>
                </a:solidFill>
              </a:rPr>
              <a:t>•  </a:t>
            </a:r>
            <a:r>
              <a:rPr sz="1500" b="1">
                <a:solidFill>
                  <a:srgbClr val="2A2A2A"/>
                </a:solidFill>
              </a:rPr>
              <a:t>Requirement:</a:t>
            </a:r>
            <a:r>
              <a:rPr sz="1500" b="0">
                <a:solidFill>
                  <a:srgbClr val="2A2A2A"/>
                </a:solidFill>
              </a:rPr>
              <a:t> recalibrate on our network before go-live. Performance measured on public research data will not transfer unchanged</a:t>
            </a:r>
          </a:p>
        </p:txBody>
      </p:sp>
      <p:sp>
        <p:nvSpPr>
          <p:cNvPr id="5" name="TextBox 4"/>
          <p:cNvSpPr txBox="1"/>
          <p:nvPr/>
        </p:nvSpPr>
        <p:spPr>
          <a:xfrm>
            <a:off x="10957255" y="6355080"/>
            <a:ext cx="822960" cy="320040"/>
          </a:xfrm>
          <a:prstGeom prst="rect">
            <a:avLst/>
          </a:prstGeom>
          <a:noFill/>
        </p:spPr>
        <p:txBody>
          <a:bodyPr wrap="square">
            <a:spAutoFit/>
          </a:bodyPr>
          <a:lstStyle/>
          <a:p>
            <a:pPr algn="r"/>
            <a:r>
              <a:rPr sz="1000">
                <a:solidFill>
                  <a:srgbClr val="555555"/>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7839" cy="868680"/>
          </a:xfrm>
          <a:prstGeom prst="rect">
            <a:avLst/>
          </a:prstGeom>
          <a:noFill/>
        </p:spPr>
        <p:txBody>
          <a:bodyPr wrap="square">
            <a:spAutoFit/>
          </a:bodyPr>
          <a:lstStyle/>
          <a:p>
            <a:r>
              <a:rPr sz="2800" b="1">
                <a:solidFill>
                  <a:srgbClr val="1F3A5F"/>
                </a:solidFill>
              </a:rPr>
              <a:t>Key Takeaways</a:t>
            </a:r>
          </a:p>
        </p:txBody>
      </p:sp>
      <p:sp>
        <p:nvSpPr>
          <p:cNvPr id="4" name="TextBox 3"/>
          <p:cNvSpPr txBox="1"/>
          <p:nvPr/>
        </p:nvSpPr>
        <p:spPr>
          <a:xfrm>
            <a:off x="566928" y="1325880"/>
            <a:ext cx="11057839" cy="4846320"/>
          </a:xfrm>
          <a:prstGeom prst="rect">
            <a:avLst/>
          </a:prstGeom>
          <a:noFill/>
        </p:spPr>
        <p:txBody>
          <a:bodyPr wrap="square">
            <a:spAutoFit/>
          </a:bodyPr>
          <a:lstStyle/>
          <a:p>
            <a:pPr>
              <a:spcAft>
                <a:spcPts val="800"/>
              </a:spcAft>
            </a:pPr>
            <a:r>
              <a:rPr sz="1500" b="0">
                <a:solidFill>
                  <a:srgbClr val="2A2A2A"/>
                </a:solidFill>
              </a:rPr>
              <a:t>•  </a:t>
            </a:r>
            <a:r>
              <a:rPr sz="1500" b="0">
                <a:solidFill>
                  <a:srgbClr val="2A2A2A"/>
                </a:solidFill>
              </a:rPr>
              <a:t>1. </a:t>
            </a:r>
            <a:r>
              <a:rPr sz="1500" b="1">
                <a:solidFill>
                  <a:srgbClr val="2A2A2A"/>
                </a:solidFill>
              </a:rPr>
              <a:t>It works.</a:t>
            </a:r>
            <a:r>
              <a:rPr sz="1500" b="0">
                <a:solidFill>
                  <a:srgbClr val="2A2A2A"/>
                </a:solidFill>
              </a:rPr>
              <a:t> 91% of attacks detected on data the system had never seen, at ordinary hardware speed</a:t>
            </a:r>
          </a:p>
          <a:p>
            <a:pPr>
              <a:spcAft>
                <a:spcPts val="800"/>
              </a:spcAft>
            </a:pPr>
            <a:r>
              <a:rPr sz="1500" b="0">
                <a:solidFill>
                  <a:srgbClr val="2A2A2A"/>
                </a:solidFill>
              </a:rPr>
              <a:t>•  </a:t>
            </a:r>
            <a:r>
              <a:rPr sz="1500" b="0">
                <a:solidFill>
                  <a:srgbClr val="2A2A2A"/>
                </a:solidFill>
              </a:rPr>
              <a:t>2. </a:t>
            </a:r>
            <a:r>
              <a:rPr sz="1500" b="1">
                <a:solidFill>
                  <a:srgbClr val="2A2A2A"/>
                </a:solidFill>
              </a:rPr>
              <a:t>It is honest about what it misses.</a:t>
            </a:r>
            <a:r>
              <a:rPr sz="1500" b="0">
                <a:solidFill>
                  <a:srgbClr val="2A2A2A"/>
                </a:solidFill>
              </a:rPr>
              <a:t> Weaker on stealthy, low-volume attack types — documented, not hidden</a:t>
            </a:r>
          </a:p>
          <a:p>
            <a:pPr>
              <a:spcAft>
                <a:spcPts val="800"/>
              </a:spcAft>
            </a:pPr>
            <a:r>
              <a:rPr sz="1500" b="0">
                <a:solidFill>
                  <a:srgbClr val="2A2A2A"/>
                </a:solidFill>
              </a:rPr>
              <a:t>•  </a:t>
            </a:r>
            <a:r>
              <a:rPr sz="1500" b="0">
                <a:solidFill>
                  <a:srgbClr val="2A2A2A"/>
                </a:solidFill>
              </a:rPr>
              <a:t>3. </a:t>
            </a:r>
            <a:r>
              <a:rPr sz="1500" b="1">
                <a:solidFill>
                  <a:srgbClr val="2A2A2A"/>
                </a:solidFill>
              </a:rPr>
              <a:t>It is explainable.</a:t>
            </a:r>
            <a:r>
              <a:rPr sz="1500" b="0">
                <a:solidFill>
                  <a:srgbClr val="2A2A2A"/>
                </a:solidFill>
              </a:rPr>
              <a:t> Every alert carries its reasons, satisfying audit and regulatory needs</a:t>
            </a:r>
          </a:p>
          <a:p>
            <a:pPr>
              <a:spcAft>
                <a:spcPts val="800"/>
              </a:spcAft>
            </a:pPr>
            <a:r>
              <a:rPr sz="1500" b="0">
                <a:solidFill>
                  <a:srgbClr val="2A2A2A"/>
                </a:solidFill>
              </a:rPr>
              <a:t>•  </a:t>
            </a:r>
            <a:r>
              <a:rPr sz="1500" b="0">
                <a:solidFill>
                  <a:srgbClr val="2A2A2A"/>
                </a:solidFill>
              </a:rPr>
              <a:t>4. </a:t>
            </a:r>
            <a:r>
              <a:rPr sz="1500" b="1">
                <a:solidFill>
                  <a:srgbClr val="2A2A2A"/>
                </a:solidFill>
              </a:rPr>
              <a:t>It is a layer, not a replacement.</a:t>
            </a:r>
            <a:r>
              <a:rPr sz="1500" b="0">
                <a:solidFill>
                  <a:srgbClr val="2A2A2A"/>
                </a:solidFill>
              </a:rPr>
              <a:t> It works alongside existing controls and human judgement</a:t>
            </a:r>
          </a:p>
          <a:p>
            <a:pPr>
              <a:spcAft>
                <a:spcPts val="800"/>
              </a:spcAft>
            </a:pPr>
            <a:r>
              <a:rPr sz="1500" b="0">
                <a:solidFill>
                  <a:srgbClr val="2A2A2A"/>
                </a:solidFill>
              </a:rPr>
              <a:t>•  </a:t>
            </a:r>
            <a:r>
              <a:rPr sz="1500" b="0">
                <a:solidFill>
                  <a:srgbClr val="2A2A2A"/>
                </a:solidFill>
              </a:rPr>
              <a:t>5. </a:t>
            </a:r>
            <a:r>
              <a:rPr sz="1500" b="1">
                <a:solidFill>
                  <a:srgbClr val="2A2A2A"/>
                </a:solidFill>
              </a:rPr>
              <a:t>Next step:</a:t>
            </a:r>
            <a:r>
              <a:rPr sz="1500" b="0">
                <a:solidFill>
                  <a:srgbClr val="2A2A2A"/>
                </a:solidFill>
              </a:rPr>
              <a:t> approve a 4–6 week shadow-mode pilot on our own traffic — no operational risk, and it gives us the real numbers</a:t>
            </a:r>
          </a:p>
        </p:txBody>
      </p:sp>
      <p:sp>
        <p:nvSpPr>
          <p:cNvPr id="5" name="TextBox 4"/>
          <p:cNvSpPr txBox="1"/>
          <p:nvPr/>
        </p:nvSpPr>
        <p:spPr>
          <a:xfrm>
            <a:off x="10957255" y="6355080"/>
            <a:ext cx="822960" cy="320040"/>
          </a:xfrm>
          <a:prstGeom prst="rect">
            <a:avLst/>
          </a:prstGeom>
          <a:noFill/>
        </p:spPr>
        <p:txBody>
          <a:bodyPr wrap="square">
            <a:spAutoFit/>
          </a:bodyPr>
          <a:lstStyle/>
          <a:p>
            <a:pPr algn="r"/>
            <a:r>
              <a:rPr sz="1000">
                <a:solidFill>
                  <a:srgbClr val="555555"/>
                </a:solidFil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