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finding, not the setup. "We built a flow-based intrusion detector that meets every performance target we set in advance — and then we spent most of our effort working out how much of that number is real. That second part is what I actually want to talk about."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Two-column slide — left: the SOC funnel (10M flows → alerts → analysts); right: the targets table.]</a:t>
            </a:r>
          </a:p>
          <a:p/>
          <a:p>
            <a:r>
              <a:t>Stress that targets were set before modelling. That is what makes the evaluation a test rather than a description. Note that the methodological criteria are as binding as the numerical ones.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figures/fig02_attack_category_distribution.png]</a:t>
            </a:r>
          </a:p>
          <a:p/>
          <a:p>
            <a:r>
              <a:t>The three-orders-of-magnitude spread across families is why every per-family metric is reported with its sample count. Point out that "no missing values" is not the same as "nothing is absent."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figures/fig05_ttl_artifact.png (three panels) with figures/fig03_duplication_by_attack_category.png inset.]</a:t>
            </a:r>
          </a:p>
          <a:p/>
          <a:p>
            <a:r>
              <a:t>This is the heart of the talk. The testbed ran benign and attack generators on hosts with different initial TTLs, so sttl encodes which generator produced the flow. Anyone benchmarking on UNSW-NB15 without noticing this is reporting a partly meaningless number. Emphasise that finding 1 and finding 2 both changed what we built, not just what we wrote.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figures/fig10_engineered_feature_separation.png]</a:t>
            </a:r>
          </a:p>
          <a:p/>
          <a:p>
            <a:r>
              <a:t>Everything sits inside one Pipeline, so CV re-fits the scaler and encoder per fold — leakage is structurally impossible rather than prevented by discipline. 46.7% of flows have zero destination packets, so every ratio is a/(a+b), not a/b.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Flowchart of the five-step protocol, with the test split greyed out until step 5.]</a:t>
            </a:r>
          </a:p>
          <a:p/>
          <a:p>
            <a:r>
              <a:t>The protocol order is the substance. Steps 1–4 never touch test data; step 5 changes no parameter. That is what makes the test metrics an estimate of generalisation rather than a number that was optimised toward.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figures/fig16_model_comparison.png]</a:t>
            </a:r>
          </a:p>
          <a:p/>
          <a:p>
            <a:r>
              <a:t>Note how close the tree ensembles are, and how far the Isolation Forest sits behind — that gap is what supervised labelling actually buys. If asked why not accuracy: PR-AUC measures ranking quality on the positive class, which is what survives a change of base rate.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figures/fig21_shap_beeswarm.png, then figures/fig24_shap_artifact_check.png]</a:t>
            </a:r>
          </a:p>
          <a:p/>
          <a:p>
            <a:r>
              <a:t>The dependence plot for sttl is a step, not a gradient — the model learned a near-binary switch. SHAP is what turned a suspicion from EDA into a measured quantity on the fitted model. Mention the dual-use point: the same explanation that helps a defender tells an attacker what to manipulate.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figures/fig18_subgroup_audit.png]</a:t>
            </a:r>
          </a:p>
          <a:p/>
          <a:p>
            <a:r>
              <a:t>Be explicit about the fairness framing — it is a strength, not a hedge. Then note that genuine fairness risk does enter at deployment: uneven per-service FPR means uneven scrutiny of the humans behind those services.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figures/fig19_ablation_comparison.png]</a:t>
            </a:r>
          </a:p>
          <a:p/>
          <a:p>
            <a:r>
              <a:t>This slide separates "the model detects attacks" from "the model detects this dataset." Each row is a separate end-to-end experiment reusing the tuned hyper-parameters, so exactly one thing changes at a time.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figures/fig17_threshold_analysis.png plus a Streamlit screenshot.]</a:t>
            </a:r>
          </a:p>
          <a:p/>
          <a:p>
            <a:r>
              <a:t>0.50 is a default, not an optimum. Show how the recall/FPR trade-off moves and make the point that choosing the operating point is a business decision about alert capacity, not a modelling decision.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Side-by-side — headline metrics left, the three qualifications right, equally weighted.]</a:t>
            </a:r>
          </a:p>
          <a:p/>
          <a:p>
            <a:r>
              <a:t>Close on the distinction between a number and a finding. A capstone that reported only its F1 would not have discovered the artefact, the duplication problem, or the per-family gaps — and would have recommended a system that should not be deployed the way it suggested.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6517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10545775" cy="1737360"/>
          </a:xfrm>
          <a:prstGeom prst="rect">
            <a:avLst/>
          </a:prstGeom>
          <a:noFill/>
        </p:spPr>
        <p:txBody>
          <a:bodyPr wrap="square">
            <a:spAutoFit/>
          </a:bodyPr>
          <a:lstStyle/>
          <a:p>
            <a:r>
              <a:rPr sz="3400" b="1">
                <a:solidFill>
                  <a:srgbClr val="FFFFFF"/>
                </a:solidFill>
              </a:rPr>
              <a:t>Machine Learning-Based Network Intrusion Detection and Anomaly Classification</a:t>
            </a:r>
          </a:p>
          <a:p>
            <a:r>
              <a:rPr sz="1700">
                <a:solidFill>
                  <a:srgbClr val="0072B2"/>
                </a:solidFill>
              </a:rPr>
              <a:t>Technical Deep-Dive  ·  ML / Data Science / Security Peers</a:t>
            </a:r>
          </a:p>
        </p:txBody>
      </p:sp>
      <p:sp>
        <p:nvSpPr>
          <p:cNvPr id="4" name="TextBox 3"/>
          <p:cNvSpPr txBox="1"/>
          <p:nvPr/>
        </p:nvSpPr>
        <p:spPr>
          <a:xfrm>
            <a:off x="822960" y="3017520"/>
            <a:ext cx="10545775" cy="2743200"/>
          </a:xfrm>
          <a:prstGeom prst="rect">
            <a:avLst/>
          </a:prstGeom>
          <a:noFill/>
        </p:spPr>
        <p:txBody>
          <a:bodyPr wrap="square">
            <a:spAutoFit/>
          </a:bodyPr>
          <a:lstStyle/>
          <a:p>
            <a:pPr>
              <a:spcAft>
                <a:spcPts val="900"/>
              </a:spcAft>
            </a:pPr>
            <a:r>
              <a:rPr sz="1500">
                <a:solidFill>
                  <a:srgbClr val="333333"/>
                </a:solidFill>
              </a:rPr>
              <a:t>•  Machine Learning-Based Network Intrusion Detection and Anomaly Classification</a:t>
            </a:r>
          </a:p>
          <a:p>
            <a:pPr>
              <a:spcAft>
                <a:spcPts val="900"/>
              </a:spcAft>
            </a:pPr>
            <a:r>
              <a:rPr sz="1500">
                <a:solidFill>
                  <a:srgbClr val="333333"/>
                </a:solidFill>
              </a:rPr>
              <a:t>•  Binary classification of network flows: benign vs. malicious</a:t>
            </a:r>
          </a:p>
          <a:p>
            <a:pPr>
              <a:spcAft>
                <a:spcPts val="900"/>
              </a:spcAft>
            </a:pPr>
            <a:r>
              <a:rPr sz="1500">
                <a:solidFill>
                  <a:srgbClr val="333333"/>
                </a:solidFill>
              </a:rPr>
              <a:t>•  Dataset: UNSW-NB15 (257,673 flow records, 10 attack families)</a:t>
            </a:r>
          </a:p>
          <a:p>
            <a:pPr>
              <a:spcAft>
                <a:spcPts val="900"/>
              </a:spcAft>
            </a:pPr>
            <a:r>
              <a:rPr sz="1500">
                <a:solidFill>
                  <a:srgbClr val="333333"/>
                </a:solidFill>
              </a:rPr>
              <a:t>•  Selected model: LightGBM — F1 0.7890, recall 96.04%, PR-AUC 0.9485</a:t>
            </a:r>
          </a:p>
        </p:txBody>
      </p:sp>
      <p:sp>
        <p:nvSpPr>
          <p:cNvPr id="5" name="TextBox 4"/>
          <p:cNvSpPr txBox="1"/>
          <p:nvPr/>
        </p:nvSpPr>
        <p:spPr>
          <a:xfrm>
            <a:off x="822960" y="5943600"/>
            <a:ext cx="10545775" cy="548640"/>
          </a:xfrm>
          <a:prstGeom prst="rect">
            <a:avLst/>
          </a:prstGeom>
          <a:noFill/>
        </p:spPr>
        <p:txBody>
          <a:bodyPr wrap="square">
            <a:spAutoFit/>
          </a:bodyPr>
          <a:lstStyle/>
          <a:p>
            <a:r>
              <a:rPr sz="1200">
                <a:solidFill>
                  <a:srgbClr val="555555"/>
                </a:solidFill>
              </a:rPr>
              <a:t>Arne Ramos   ·   16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57839" cy="868680"/>
          </a:xfrm>
          <a:prstGeom prst="rect">
            <a:avLst/>
          </a:prstGeom>
          <a:noFill/>
        </p:spPr>
        <p:txBody>
          <a:bodyPr wrap="square">
            <a:spAutoFit/>
          </a:bodyPr>
          <a:lstStyle/>
          <a:p>
            <a:r>
              <a:rPr sz="2800" b="1">
                <a:solidFill>
                  <a:srgbClr val="1F3A5F"/>
                </a:solidFill>
              </a:rPr>
              <a:t>Problem &amp; Objectives</a:t>
            </a:r>
          </a:p>
        </p:txBody>
      </p:sp>
      <p:sp>
        <p:nvSpPr>
          <p:cNvPr id="4" name="TextBox 3"/>
          <p:cNvSpPr txBox="1"/>
          <p:nvPr/>
        </p:nvSpPr>
        <p:spPr>
          <a:xfrm>
            <a:off x="566928" y="1325880"/>
            <a:ext cx="11057839" cy="4846320"/>
          </a:xfrm>
          <a:prstGeom prst="rect">
            <a:avLst/>
          </a:prstGeom>
          <a:noFill/>
        </p:spPr>
        <p:txBody>
          <a:bodyPr wrap="square">
            <a:spAutoFit/>
          </a:bodyPr>
          <a:lstStyle/>
          <a:p>
            <a:pPr>
              <a:spcAft>
                <a:spcPts val="800"/>
              </a:spcAft>
            </a:pPr>
            <a:r>
              <a:rPr sz="1500" b="0">
                <a:solidFill>
                  <a:srgbClr val="2A2A2A"/>
                </a:solidFill>
              </a:rPr>
              <a:t>•  </a:t>
            </a:r>
            <a:r>
              <a:rPr sz="1500" b="0">
                <a:solidFill>
                  <a:srgbClr val="2A2A2A"/>
                </a:solidFill>
              </a:rPr>
              <a:t>Enterprise networks produce tens of millions of flow records per day; the malicious fraction is vanishingly small</a:t>
            </a:r>
          </a:p>
          <a:p>
            <a:pPr>
              <a:spcAft>
                <a:spcPts val="800"/>
              </a:spcAft>
            </a:pPr>
            <a:r>
              <a:rPr sz="1500" b="0">
                <a:solidFill>
                  <a:srgbClr val="2A2A2A"/>
                </a:solidFill>
              </a:rPr>
              <a:t>•  </a:t>
            </a:r>
            <a:r>
              <a:rPr sz="1500" b="0">
                <a:solidFill>
                  <a:srgbClr val="2A2A2A"/>
                </a:solidFill>
              </a:rPr>
              <a:t>Signatures are precise but blind to anything unseen; manual review does not scale</a:t>
            </a:r>
          </a:p>
          <a:p>
            <a:pPr>
              <a:spcAft>
                <a:spcPts val="800"/>
              </a:spcAft>
            </a:pPr>
            <a:r>
              <a:rPr sz="1500" b="0">
                <a:solidFill>
                  <a:srgbClr val="2A2A2A"/>
                </a:solidFill>
              </a:rPr>
              <a:t>•  </a:t>
            </a:r>
            <a:r>
              <a:rPr sz="1500" b="1">
                <a:solidFill>
                  <a:srgbClr val="2A2A2A"/>
                </a:solidFill>
              </a:rPr>
              <a:t>Objective:</a:t>
            </a:r>
            <a:r>
              <a:rPr sz="1500" b="0">
                <a:solidFill>
                  <a:srgbClr val="2A2A2A"/>
                </a:solidFill>
              </a:rPr>
              <a:t> estimate P(malicious) per flow from flow statistics alone — no payload, no IPs, no ports, no timestamps</a:t>
            </a:r>
          </a:p>
          <a:p>
            <a:pPr>
              <a:spcAft>
                <a:spcPts val="800"/>
              </a:spcAft>
            </a:pPr>
            <a:r>
              <a:rPr sz="1500" b="0">
                <a:solidFill>
                  <a:srgbClr val="2A2A2A"/>
                </a:solidFill>
              </a:rPr>
              <a:t>•  </a:t>
            </a:r>
            <a:r>
              <a:rPr sz="1500" b="0">
                <a:solidFill>
                  <a:srgbClr val="2A2A2A"/>
                </a:solidFill>
              </a:rPr>
              <a:t>Pre-registered targets: F1 ≥ 0.90, ROC-AUC ≥ 0.95, PR-AUC ≥ 0.90, recall ≥ 0.90, throughput ≥ 10k flows/s</a:t>
            </a:r>
          </a:p>
          <a:p>
            <a:pPr>
              <a:spcAft>
                <a:spcPts val="800"/>
              </a:spcAft>
            </a:pPr>
            <a:r>
              <a:rPr sz="1500" b="0">
                <a:solidFill>
                  <a:srgbClr val="2A2A2A"/>
                </a:solidFill>
              </a:rPr>
              <a:t>•  </a:t>
            </a:r>
            <a:r>
              <a:rPr sz="1500" b="0">
                <a:solidFill>
                  <a:srgbClr val="2A2A2A"/>
                </a:solidFill>
              </a:rPr>
              <a:t>Pre-registered </a:t>
            </a:r>
            <a:r>
              <a:rPr sz="1500" b="1">
                <a:solidFill>
                  <a:srgbClr val="2A2A2A"/>
                </a:solidFill>
              </a:rPr>
              <a:t>methodological</a:t>
            </a:r>
            <a:r>
              <a:rPr sz="1500" b="0">
                <a:solidFill>
                  <a:srgbClr val="2A2A2A"/>
                </a:solidFill>
              </a:rPr>
              <a:t> criteria: no target leakage, no preprocessing leakage, no duplicate leakage, test split opened once</a:t>
            </a:r>
          </a:p>
        </p:txBody>
      </p:sp>
      <p:sp>
        <p:nvSpPr>
          <p:cNvPr id="5" name="TextBox 4"/>
          <p:cNvSpPr txBox="1"/>
          <p:nvPr/>
        </p:nvSpPr>
        <p:spPr>
          <a:xfrm>
            <a:off x="10957255" y="6355080"/>
            <a:ext cx="822960" cy="320040"/>
          </a:xfrm>
          <a:prstGeom prst="rect">
            <a:avLst/>
          </a:prstGeom>
          <a:noFill/>
        </p:spPr>
        <p:txBody>
          <a:bodyPr wrap="square">
            <a:spAutoFit/>
          </a:bodyPr>
          <a:lstStyle/>
          <a:p>
            <a:pPr algn="r"/>
            <a:r>
              <a:rPr sz="1000">
                <a:solidFill>
                  <a:srgbClr val="555555"/>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57839" cy="868680"/>
          </a:xfrm>
          <a:prstGeom prst="rect">
            <a:avLst/>
          </a:prstGeom>
          <a:noFill/>
        </p:spPr>
        <p:txBody>
          <a:bodyPr wrap="square">
            <a:spAutoFit/>
          </a:bodyPr>
          <a:lstStyle/>
          <a:p>
            <a:r>
              <a:rPr sz="2800" b="1">
                <a:solidFill>
                  <a:srgbClr val="1F3A5F"/>
                </a:solidFill>
              </a:rPr>
              <a:t>Dataset</a:t>
            </a:r>
          </a:p>
        </p:txBody>
      </p:sp>
      <p:sp>
        <p:nvSpPr>
          <p:cNvPr id="4" name="TextBox 3"/>
          <p:cNvSpPr txBox="1"/>
          <p:nvPr/>
        </p:nvSpPr>
        <p:spPr>
          <a:xfrm>
            <a:off x="566928" y="1325880"/>
            <a:ext cx="5577840" cy="4846320"/>
          </a:xfrm>
          <a:prstGeom prst="rect">
            <a:avLst/>
          </a:prstGeom>
          <a:noFill/>
        </p:spPr>
        <p:txBody>
          <a:bodyPr wrap="square">
            <a:spAutoFit/>
          </a:bodyPr>
          <a:lstStyle/>
          <a:p>
            <a:pPr>
              <a:spcAft>
                <a:spcPts val="800"/>
              </a:spcAft>
            </a:pPr>
            <a:r>
              <a:rPr sz="1500" b="0">
                <a:solidFill>
                  <a:srgbClr val="2A2A2A"/>
                </a:solidFill>
              </a:rPr>
              <a:t>•  </a:t>
            </a:r>
            <a:r>
              <a:rPr sz="1500" b="0">
                <a:solidFill>
                  <a:srgbClr val="2A2A2A"/>
                </a:solidFill>
              </a:rPr>
              <a:t>UNSW-NB15 (Moustafa &amp; Slay, 2015), UNSW Canberra ACCS — synthetic testbed traffic, IXIA PerfectStorm</a:t>
            </a:r>
          </a:p>
          <a:p>
            <a:pPr>
              <a:spcAft>
                <a:spcPts val="800"/>
              </a:spcAft>
            </a:pPr>
            <a:r>
              <a:rPr sz="1500" b="0">
                <a:solidFill>
                  <a:srgbClr val="2A2A2A"/>
                </a:solidFill>
              </a:rPr>
              <a:t>•  </a:t>
            </a:r>
            <a:r>
              <a:rPr sz="1500" b="0">
                <a:solidFill>
                  <a:srgbClr val="2A2A2A"/>
                </a:solidFill>
              </a:rPr>
              <a:t>257,673 records, 45 columns, 10 attack families; target label, family label attack_cat</a:t>
            </a:r>
          </a:p>
          <a:p>
            <a:pPr>
              <a:spcAft>
                <a:spcPts val="800"/>
              </a:spcAft>
            </a:pPr>
            <a:r>
              <a:rPr sz="1500" b="0">
                <a:solidFill>
                  <a:srgbClr val="2A2A2A"/>
                </a:solidFill>
              </a:rPr>
              <a:t>•  </a:t>
            </a:r>
            <a:r>
              <a:rPr sz="1500" b="0">
                <a:solidFill>
                  <a:srgbClr val="2A2A2A"/>
                </a:solidFill>
              </a:rPr>
              <a:t>Integrity verified independently: row counts, schema, target encoding, SHA-256 — not trusted from the mirror</a:t>
            </a:r>
          </a:p>
          <a:p>
            <a:pPr>
              <a:spcAft>
                <a:spcPts val="800"/>
              </a:spcAft>
            </a:pPr>
            <a:r>
              <a:rPr sz="1500" b="0">
                <a:solidFill>
                  <a:srgbClr val="2A2A2A"/>
                </a:solidFill>
              </a:rPr>
              <a:t>•  </a:t>
            </a:r>
            <a:r>
              <a:rPr sz="1500" b="1">
                <a:solidFill>
                  <a:srgbClr val="2A2A2A"/>
                </a:solidFill>
              </a:rPr>
              <a:t>attack_cat excluded as a predictor</a:t>
            </a:r>
            <a:r>
              <a:rPr sz="1500" b="0">
                <a:solidFill>
                  <a:srgbClr val="2A2A2A"/>
                </a:solidFill>
              </a:rPr>
              <a:t> — it determines label exactly (verified 1.0000 agreement)</a:t>
            </a:r>
          </a:p>
          <a:p>
            <a:pPr>
              <a:spcAft>
                <a:spcPts val="800"/>
              </a:spcAft>
            </a:pPr>
            <a:r>
              <a:rPr sz="1500" b="0">
                <a:solidFill>
                  <a:srgbClr val="2A2A2A"/>
                </a:solidFill>
              </a:rPr>
              <a:t>•  </a:t>
            </a:r>
            <a:r>
              <a:rPr sz="1500" b="0">
                <a:solidFill>
                  <a:srgbClr val="2A2A2A"/>
                </a:solidFill>
              </a:rPr>
              <a:t>Missing values: </a:t>
            </a:r>
            <a:r>
              <a:rPr sz="1500" b="1">
                <a:solidFill>
                  <a:srgbClr val="2A2A2A"/>
                </a:solidFill>
              </a:rPr>
              <a:t>0</a:t>
            </a:r>
            <a:r>
              <a:rPr sz="1500" b="0">
                <a:solidFill>
                  <a:srgbClr val="2A2A2A"/>
                </a:solidFill>
              </a:rPr>
              <a:t>. But service == '-' (54.8%) and dbytes == 0 (46.7%) are real categories, not absences</a:t>
            </a:r>
          </a:p>
        </p:txBody>
      </p:sp>
      <p:pic>
        <p:nvPicPr>
          <p:cNvPr id="5" name="Picture 4" descr="fig02_attack_category_distribution.png"/>
          <p:cNvPicPr>
            <a:picLocks noChangeAspect="1"/>
          </p:cNvPicPr>
          <p:nvPr/>
        </p:nvPicPr>
        <p:blipFill>
          <a:blip r:embed="rId2"/>
          <a:stretch>
            <a:fillRect/>
          </a:stretch>
        </p:blipFill>
        <p:spPr>
          <a:xfrm>
            <a:off x="6355080" y="1463040"/>
            <a:ext cx="5269687" cy="2847521"/>
          </a:xfrm>
          <a:prstGeom prst="rect">
            <a:avLst/>
          </a:prstGeom>
        </p:spPr>
      </p:pic>
      <p:sp>
        <p:nvSpPr>
          <p:cNvPr id="6" name="TextBox 5"/>
          <p:cNvSpPr txBox="1"/>
          <p:nvPr/>
        </p:nvSpPr>
        <p:spPr>
          <a:xfrm>
            <a:off x="10957255" y="6355080"/>
            <a:ext cx="822960" cy="320040"/>
          </a:xfrm>
          <a:prstGeom prst="rect">
            <a:avLst/>
          </a:prstGeom>
          <a:noFill/>
        </p:spPr>
        <p:txBody>
          <a:bodyPr wrap="square">
            <a:spAutoFit/>
          </a:bodyPr>
          <a:lstStyle/>
          <a:p>
            <a:pPr algn="r"/>
            <a:r>
              <a:rPr sz="1000">
                <a:solidFill>
                  <a:srgbClr val="555555"/>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57839" cy="868680"/>
          </a:xfrm>
          <a:prstGeom prst="rect">
            <a:avLst/>
          </a:prstGeom>
          <a:noFill/>
        </p:spPr>
        <p:txBody>
          <a:bodyPr wrap="square">
            <a:spAutoFit/>
          </a:bodyPr>
          <a:lstStyle/>
          <a:p>
            <a:r>
              <a:rPr sz="2800" b="1">
                <a:solidFill>
                  <a:srgbClr val="1F3A5F"/>
                </a:solidFill>
              </a:rPr>
              <a:t>EDA: three findings that changed the design</a:t>
            </a:r>
          </a:p>
        </p:txBody>
      </p:sp>
      <p:sp>
        <p:nvSpPr>
          <p:cNvPr id="4" name="TextBox 3"/>
          <p:cNvSpPr txBox="1"/>
          <p:nvPr/>
        </p:nvSpPr>
        <p:spPr>
          <a:xfrm>
            <a:off x="566928" y="1325880"/>
            <a:ext cx="5577840" cy="4846320"/>
          </a:xfrm>
          <a:prstGeom prst="rect">
            <a:avLst/>
          </a:prstGeom>
          <a:noFill/>
        </p:spPr>
        <p:txBody>
          <a:bodyPr wrap="square">
            <a:spAutoFit/>
          </a:bodyPr>
          <a:lstStyle/>
          <a:p>
            <a:pPr>
              <a:spcAft>
                <a:spcPts val="800"/>
              </a:spcAft>
            </a:pPr>
            <a:r>
              <a:rPr sz="1500" b="0">
                <a:solidFill>
                  <a:srgbClr val="2A2A2A"/>
                </a:solidFill>
              </a:rPr>
              <a:t>•  </a:t>
            </a:r>
            <a:r>
              <a:rPr sz="1500" b="0">
                <a:solidFill>
                  <a:srgbClr val="2A2A2A"/>
                </a:solidFill>
              </a:rPr>
              <a:t>1. </a:t>
            </a:r>
            <a:r>
              <a:rPr sz="1500" b="1">
                <a:solidFill>
                  <a:srgbClr val="2A2A2A"/>
                </a:solidFill>
              </a:rPr>
              <a:t>40.4% of the corpus is duplicated</a:t>
            </a:r>
            <a:r>
              <a:rPr sz="1500" b="0">
                <a:solidFill>
                  <a:srgbClr val="2A2A2A"/>
                </a:solidFill>
              </a:rPr>
              <a:t>, and duplication is class-correlated — Generic 87.6%, Normal 8.1%</a:t>
            </a:r>
          </a:p>
          <a:p>
            <a:pPr>
              <a:spcAft>
                <a:spcPts val="800"/>
              </a:spcAft>
            </a:pPr>
            <a:r>
              <a:rPr sz="1500" b="0">
                <a:solidFill>
                  <a:srgbClr val="2A2A2A"/>
                </a:solidFill>
              </a:rPr>
              <a:t>•  </a:t>
            </a:r>
            <a:r>
              <a:rPr sz="1500" b="0">
                <a:solidFill>
                  <a:srgbClr val="2A2A2A"/>
                </a:solidFill>
              </a:rPr>
              <a:t>2. </a:t>
            </a:r>
            <a:r>
              <a:rPr sz="1500" b="1">
                <a:solidFill>
                  <a:srgbClr val="2A2A2A"/>
                </a:solidFill>
              </a:rPr>
              <a:t>sttl is a near-label proxy</a:t>
            </a:r>
            <a:r>
              <a:rPr sz="1500" b="0">
                <a:solidFill>
                  <a:srgbClr val="2A2A2A"/>
                </a:solidFill>
              </a:rPr>
              <a:t> — a lookup rule on it alone reaches 81.3% accuracy vs a 55.6% baseline</a:t>
            </a:r>
          </a:p>
          <a:p>
            <a:pPr>
              <a:spcAft>
                <a:spcPts val="800"/>
              </a:spcAft>
            </a:pPr>
            <a:r>
              <a:rPr sz="1500" b="0">
                <a:solidFill>
                  <a:srgbClr val="2A2A2A"/>
                </a:solidFill>
              </a:rPr>
              <a:t>•  </a:t>
            </a:r>
            <a:r>
              <a:rPr sz="1500" b="0">
                <a:solidFill>
                  <a:srgbClr val="2A2A2A"/>
                </a:solidFill>
              </a:rPr>
              <a:t>3. </a:t>
            </a:r>
            <a:r>
              <a:rPr sz="1500" b="1">
                <a:solidFill>
                  <a:srgbClr val="2A2A2A"/>
                </a:solidFill>
              </a:rPr>
              <a:t>Outliers are genuine attacks</a:t>
            </a:r>
            <a:r>
              <a:rPr sz="1500" b="0">
                <a:solidFill>
                  <a:srgbClr val="2A2A2A"/>
                </a:solidFill>
              </a:rPr>
              <a:t> — 14 MB transfers, 5.99 Gbit/s loads, 10,646-packet bursts. Nothing was clipped</a:t>
            </a:r>
          </a:p>
        </p:txBody>
      </p:sp>
      <p:pic>
        <p:nvPicPr>
          <p:cNvPr id="5" name="Picture 4" descr="fig05_ttl_artifact.png"/>
          <p:cNvPicPr>
            <a:picLocks noChangeAspect="1"/>
          </p:cNvPicPr>
          <p:nvPr/>
        </p:nvPicPr>
        <p:blipFill>
          <a:blip r:embed="rId2"/>
          <a:stretch>
            <a:fillRect/>
          </a:stretch>
        </p:blipFill>
        <p:spPr>
          <a:xfrm>
            <a:off x="6355080" y="1463040"/>
            <a:ext cx="5269687" cy="1840732"/>
          </a:xfrm>
          <a:prstGeom prst="rect">
            <a:avLst/>
          </a:prstGeom>
        </p:spPr>
      </p:pic>
      <p:sp>
        <p:nvSpPr>
          <p:cNvPr id="6" name="TextBox 5"/>
          <p:cNvSpPr txBox="1"/>
          <p:nvPr/>
        </p:nvSpPr>
        <p:spPr>
          <a:xfrm>
            <a:off x="10957255" y="6355080"/>
            <a:ext cx="822960" cy="320040"/>
          </a:xfrm>
          <a:prstGeom prst="rect">
            <a:avLst/>
          </a:prstGeom>
          <a:noFill/>
        </p:spPr>
        <p:txBody>
          <a:bodyPr wrap="square">
            <a:spAutoFit/>
          </a:bodyPr>
          <a:lstStyle/>
          <a:p>
            <a:pPr algn="r"/>
            <a:r>
              <a:rPr sz="1000">
                <a:solidFill>
                  <a:srgbClr val="555555"/>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57839" cy="868680"/>
          </a:xfrm>
          <a:prstGeom prst="rect">
            <a:avLst/>
          </a:prstGeom>
          <a:noFill/>
        </p:spPr>
        <p:txBody>
          <a:bodyPr wrap="square">
            <a:spAutoFit/>
          </a:bodyPr>
          <a:lstStyle/>
          <a:p>
            <a:r>
              <a:rPr sz="2800" b="1">
                <a:solidFill>
                  <a:srgbClr val="1F3A5F"/>
                </a:solidFill>
              </a:rPr>
              <a:t>Preprocessing &amp; Feature Engineering</a:t>
            </a:r>
          </a:p>
        </p:txBody>
      </p:sp>
      <p:sp>
        <p:nvSpPr>
          <p:cNvPr id="4" name="TextBox 3"/>
          <p:cNvSpPr txBox="1"/>
          <p:nvPr/>
        </p:nvSpPr>
        <p:spPr>
          <a:xfrm>
            <a:off x="566928" y="1325880"/>
            <a:ext cx="5577840" cy="4846320"/>
          </a:xfrm>
          <a:prstGeom prst="rect">
            <a:avLst/>
          </a:prstGeom>
          <a:noFill/>
        </p:spPr>
        <p:txBody>
          <a:bodyPr wrap="square">
            <a:spAutoFit/>
          </a:bodyPr>
          <a:lstStyle/>
          <a:p>
            <a:pPr>
              <a:spcAft>
                <a:spcPts val="800"/>
              </a:spcAft>
            </a:pPr>
            <a:r>
              <a:rPr sz="1500" b="0">
                <a:solidFill>
                  <a:srgbClr val="2A2A2A"/>
                </a:solidFill>
              </a:rPr>
              <a:t>•  </a:t>
            </a:r>
            <a:r>
              <a:rPr sz="1500" b="1">
                <a:solidFill>
                  <a:srgbClr val="2A2A2A"/>
                </a:solidFill>
              </a:rPr>
              <a:t>Deduplicate before splitting</a:t>
            </a:r>
            <a:r>
              <a:rPr sz="1500" b="0">
                <a:solidFill>
                  <a:srgbClr val="2A2A2A"/>
                </a:solidFill>
              </a:rPr>
              <a:t> → 153,684 unique flows; class balance shifts 63.9% → 44.4% attack</a:t>
            </a:r>
          </a:p>
          <a:p>
            <a:pPr>
              <a:spcAft>
                <a:spcPts val="800"/>
              </a:spcAft>
            </a:pPr>
            <a:r>
              <a:rPr sz="1500" b="0">
                <a:solidFill>
                  <a:srgbClr val="2A2A2A"/>
                </a:solidFill>
              </a:rPr>
              <a:t>•  </a:t>
            </a:r>
            <a:r>
              <a:rPr sz="1500" b="0">
                <a:solidFill>
                  <a:srgbClr val="2A2A2A"/>
                </a:solidFill>
              </a:rPr>
              <a:t>Stratified 60/20/20 on attack_cat (so Worms reaches all three splits), random_state=42</a:t>
            </a:r>
          </a:p>
          <a:p>
            <a:pPr>
              <a:spcAft>
                <a:spcPts val="800"/>
              </a:spcAft>
            </a:pPr>
            <a:r>
              <a:rPr sz="1500" b="0">
                <a:solidFill>
                  <a:srgbClr val="2A2A2A"/>
                </a:solidFill>
              </a:rPr>
              <a:t>•  </a:t>
            </a:r>
            <a:r>
              <a:rPr sz="1500" b="0">
                <a:solidFill>
                  <a:srgbClr val="2A2A2A"/>
                </a:solidFill>
              </a:rPr>
              <a:t>log1p → StandardScaler for heavy tails; one-hot with min_frequency=200 for the 133-level proto</a:t>
            </a:r>
          </a:p>
          <a:p>
            <a:pPr>
              <a:spcAft>
                <a:spcPts val="800"/>
              </a:spcAft>
            </a:pPr>
            <a:r>
              <a:rPr sz="1500" b="0">
                <a:solidFill>
                  <a:srgbClr val="2A2A2A"/>
                </a:solidFill>
              </a:rPr>
              <a:t>•  </a:t>
            </a:r>
            <a:r>
              <a:rPr sz="1500" b="1">
                <a:solidFill>
                  <a:srgbClr val="2A2A2A"/>
                </a:solidFill>
              </a:rPr>
              <a:t>15 engineered features</a:t>
            </a:r>
            <a:r>
              <a:rPr sz="1500" b="0">
                <a:solidFill>
                  <a:srgbClr val="2A2A2A"/>
                </a:solidFill>
              </a:rPr>
              <a:t>, all row-wise: src_byte_ratio, is_one_way, tcp_handshake_complete, load_log_ratio, …</a:t>
            </a:r>
          </a:p>
          <a:p>
            <a:pPr>
              <a:spcAft>
                <a:spcPts val="800"/>
              </a:spcAft>
            </a:pPr>
            <a:r>
              <a:rPr sz="1500" b="0">
                <a:solidFill>
                  <a:srgbClr val="2A2A2A"/>
                </a:solidFill>
              </a:rPr>
              <a:t>•  </a:t>
            </a:r>
            <a:r>
              <a:rPr sz="1500" b="0">
                <a:solidFill>
                  <a:srgbClr val="2A2A2A"/>
                </a:solidFill>
              </a:rPr>
              <a:t>Row-wise matters twice: cannot leak across the split, </a:t>
            </a:r>
            <a:r>
              <a:rPr sz="1500" b="1">
                <a:solidFill>
                  <a:srgbClr val="2A2A2A"/>
                </a:solidFill>
              </a:rPr>
              <a:t>and</a:t>
            </a:r>
            <a:r>
              <a:rPr sz="1500" b="0">
                <a:solidFill>
                  <a:srgbClr val="2A2A2A"/>
                </a:solidFill>
              </a:rPr>
              <a:t> computable by a sensor on one flow</a:t>
            </a:r>
          </a:p>
        </p:txBody>
      </p:sp>
      <p:pic>
        <p:nvPicPr>
          <p:cNvPr id="5" name="Picture 4" descr="fig10_engineered_feature_separation.png"/>
          <p:cNvPicPr>
            <a:picLocks noChangeAspect="1"/>
          </p:cNvPicPr>
          <p:nvPr/>
        </p:nvPicPr>
        <p:blipFill>
          <a:blip r:embed="rId2"/>
          <a:stretch>
            <a:fillRect/>
          </a:stretch>
        </p:blipFill>
        <p:spPr>
          <a:xfrm>
            <a:off x="6355080" y="1463040"/>
            <a:ext cx="5269687" cy="2158240"/>
          </a:xfrm>
          <a:prstGeom prst="rect">
            <a:avLst/>
          </a:prstGeom>
        </p:spPr>
      </p:pic>
      <p:sp>
        <p:nvSpPr>
          <p:cNvPr id="6" name="TextBox 5"/>
          <p:cNvSpPr txBox="1"/>
          <p:nvPr/>
        </p:nvSpPr>
        <p:spPr>
          <a:xfrm>
            <a:off x="10957255" y="6355080"/>
            <a:ext cx="822960" cy="320040"/>
          </a:xfrm>
          <a:prstGeom prst="rect">
            <a:avLst/>
          </a:prstGeom>
          <a:noFill/>
        </p:spPr>
        <p:txBody>
          <a:bodyPr wrap="square">
            <a:spAutoFit/>
          </a:bodyPr>
          <a:lstStyle/>
          <a:p>
            <a:pPr algn="r"/>
            <a:r>
              <a:rPr sz="1000">
                <a:solidFill>
                  <a:srgbClr val="555555"/>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57839" cy="868680"/>
          </a:xfrm>
          <a:prstGeom prst="rect">
            <a:avLst/>
          </a:prstGeom>
          <a:noFill/>
        </p:spPr>
        <p:txBody>
          <a:bodyPr wrap="square">
            <a:spAutoFit/>
          </a:bodyPr>
          <a:lstStyle/>
          <a:p>
            <a:r>
              <a:rPr sz="2800" b="1">
                <a:solidFill>
                  <a:srgbClr val="1F3A5F"/>
                </a:solidFill>
              </a:rPr>
              <a:t>Modelling Approach</a:t>
            </a:r>
          </a:p>
        </p:txBody>
      </p:sp>
      <p:sp>
        <p:nvSpPr>
          <p:cNvPr id="4" name="TextBox 3"/>
          <p:cNvSpPr txBox="1"/>
          <p:nvPr/>
        </p:nvSpPr>
        <p:spPr>
          <a:xfrm>
            <a:off x="566928" y="1325880"/>
            <a:ext cx="11057839" cy="4846320"/>
          </a:xfrm>
          <a:prstGeom prst="rect">
            <a:avLst/>
          </a:prstGeom>
          <a:noFill/>
        </p:spPr>
        <p:txBody>
          <a:bodyPr wrap="square">
            <a:spAutoFit/>
          </a:bodyPr>
          <a:lstStyle/>
          <a:p>
            <a:pPr>
              <a:spcAft>
                <a:spcPts val="800"/>
              </a:spcAft>
            </a:pPr>
            <a:r>
              <a:rPr sz="1500" b="0">
                <a:solidFill>
                  <a:srgbClr val="2A2A2A"/>
                </a:solidFill>
              </a:rPr>
              <a:t>•  </a:t>
            </a:r>
            <a:r>
              <a:rPr sz="1500" b="0">
                <a:solidFill>
                  <a:srgbClr val="2A2A2A"/>
                </a:solidFill>
              </a:rPr>
              <a:t>Logistic Regression (interpretable baseline) · Random Forest · XGBoost · LightGBM · Isolation Forest (unsupervised, benign-only)</a:t>
            </a:r>
          </a:p>
          <a:p>
            <a:pPr>
              <a:spcAft>
                <a:spcPts val="800"/>
              </a:spcAft>
            </a:pPr>
            <a:r>
              <a:rPr sz="1500" b="0">
                <a:solidFill>
                  <a:srgbClr val="2A2A2A"/>
                </a:solidFill>
              </a:rPr>
              <a:t>•  </a:t>
            </a:r>
            <a:r>
              <a:rPr sz="1500" b="0">
                <a:solidFill>
                  <a:srgbClr val="2A2A2A"/>
                </a:solidFill>
              </a:rPr>
              <a:t>RandomizedSearchCV, 5-fold StratifiedKFold, scoring F1 with PR-AUC and ROC-AUC alongside</a:t>
            </a:r>
          </a:p>
          <a:p>
            <a:pPr>
              <a:spcAft>
                <a:spcPts val="800"/>
              </a:spcAft>
            </a:pPr>
            <a:r>
              <a:rPr sz="1500" b="0">
                <a:solidFill>
                  <a:srgbClr val="2A2A2A"/>
                </a:solidFill>
              </a:rPr>
              <a:t>•  </a:t>
            </a:r>
            <a:r>
              <a:rPr sz="1500" b="1">
                <a:solidFill>
                  <a:srgbClr val="2A2A2A"/>
                </a:solidFill>
              </a:rPr>
              <a:t>Protocol order:</a:t>
            </a:r>
            <a:r>
              <a:rPr sz="1500" b="0">
                <a:solidFill>
                  <a:srgbClr val="2A2A2A"/>
                </a:solidFill>
              </a:rPr>
              <a:t> score on validation → select on validation → tune threshold on validation → freeze → open test </a:t>
            </a:r>
            <a:r>
              <a:rPr sz="1500" b="1">
                <a:solidFill>
                  <a:srgbClr val="2A2A2A"/>
                </a:solidFill>
              </a:rPr>
              <a:t>once</a:t>
            </a:r>
          </a:p>
          <a:p>
            <a:pPr>
              <a:spcAft>
                <a:spcPts val="800"/>
              </a:spcAft>
            </a:pPr>
            <a:r>
              <a:rPr sz="1500" b="0">
                <a:solidFill>
                  <a:srgbClr val="2A2A2A"/>
                </a:solidFill>
              </a:rPr>
              <a:t>•  </a:t>
            </a:r>
            <a:r>
              <a:rPr sz="1500" b="0">
                <a:solidFill>
                  <a:srgbClr val="2A2A2A"/>
                </a:solidFill>
              </a:rPr>
              <a:t>Solver choice made by measurement: lbfgs/L2 3.6 s vs saga/L1 199.4 s (non-converged) for a 0.0004 F1 difference</a:t>
            </a:r>
          </a:p>
        </p:txBody>
      </p:sp>
      <p:sp>
        <p:nvSpPr>
          <p:cNvPr id="5" name="TextBox 4"/>
          <p:cNvSpPr txBox="1"/>
          <p:nvPr/>
        </p:nvSpPr>
        <p:spPr>
          <a:xfrm>
            <a:off x="10957255" y="6355080"/>
            <a:ext cx="822960" cy="320040"/>
          </a:xfrm>
          <a:prstGeom prst="rect">
            <a:avLst/>
          </a:prstGeom>
          <a:noFill/>
        </p:spPr>
        <p:txBody>
          <a:bodyPr wrap="square">
            <a:spAutoFit/>
          </a:bodyPr>
          <a:lstStyle/>
          <a:p>
            <a:pPr algn="r"/>
            <a:r>
              <a:rPr sz="1000">
                <a:solidFill>
                  <a:srgbClr val="555555"/>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57839" cy="868680"/>
          </a:xfrm>
          <a:prstGeom prst="rect">
            <a:avLst/>
          </a:prstGeom>
          <a:noFill/>
        </p:spPr>
        <p:txBody>
          <a:bodyPr wrap="square">
            <a:spAutoFit/>
          </a:bodyPr>
          <a:lstStyle/>
          <a:p>
            <a:r>
              <a:rPr sz="2800" b="1">
                <a:solidFill>
                  <a:srgbClr val="1F3A5F"/>
                </a:solidFill>
              </a:rPr>
              <a:t>Model Comparison</a:t>
            </a:r>
          </a:p>
        </p:txBody>
      </p:sp>
      <p:sp>
        <p:nvSpPr>
          <p:cNvPr id="4" name="TextBox 3"/>
          <p:cNvSpPr txBox="1"/>
          <p:nvPr/>
        </p:nvSpPr>
        <p:spPr>
          <a:xfrm>
            <a:off x="566928" y="1325880"/>
            <a:ext cx="5577840" cy="4846320"/>
          </a:xfrm>
          <a:prstGeom prst="rect">
            <a:avLst/>
          </a:prstGeom>
          <a:noFill/>
        </p:spPr>
        <p:txBody>
          <a:bodyPr wrap="square">
            <a:spAutoFit/>
          </a:bodyPr>
          <a:lstStyle/>
          <a:p>
            <a:pPr>
              <a:spcAft>
                <a:spcPts val="800"/>
              </a:spcAft>
            </a:pPr>
            <a:r>
              <a:rPr sz="1500" b="0">
                <a:solidFill>
                  <a:srgbClr val="2A2A2A"/>
                </a:solidFill>
              </a:rPr>
              <a:t>•  </a:t>
            </a:r>
            <a:r>
              <a:rPr sz="1500" b="0">
                <a:solidFill>
                  <a:srgbClr val="2A2A2A"/>
                </a:solidFill>
              </a:rPr>
              <a:t>Selected </a:t>
            </a:r>
            <a:r>
              <a:rPr sz="1500" b="1">
                <a:solidFill>
                  <a:srgbClr val="2A2A2A"/>
                </a:solidFill>
              </a:rPr>
              <a:t>LightGBM</a:t>
            </a:r>
            <a:r>
              <a:rPr sz="1500" b="0">
                <a:solidFill>
                  <a:srgbClr val="2A2A2A"/>
                </a:solidFill>
              </a:rPr>
              <a:t> on validation </a:t>
            </a:r>
            <a:r>
              <a:rPr sz="1500" b="1">
                <a:solidFill>
                  <a:srgbClr val="2A2A2A"/>
                </a:solidFill>
              </a:rPr>
              <a:t>PR-AUC — not accuracy</a:t>
            </a:r>
          </a:p>
          <a:p>
            <a:pPr>
              <a:spcAft>
                <a:spcPts val="800"/>
              </a:spcAft>
            </a:pPr>
            <a:r>
              <a:rPr sz="1500" b="0">
                <a:solidFill>
                  <a:srgbClr val="2A2A2A"/>
                </a:solidFill>
              </a:rPr>
              <a:t>•  </a:t>
            </a:r>
            <a:r>
              <a:rPr sz="1500" b="0">
                <a:solidFill>
                  <a:srgbClr val="2A2A2A"/>
                </a:solidFill>
              </a:rPr>
              <a:t>Accuracy compresses every model into a narrow band on a 36%-positive corpus and rewards majority-class performance</a:t>
            </a:r>
          </a:p>
        </p:txBody>
      </p:sp>
      <p:graphicFrame>
        <p:nvGraphicFramePr>
          <p:cNvPr id="5" name="Table 4"/>
          <p:cNvGraphicFramePr>
            <a:graphicFrameLocks noGrp="1"/>
          </p:cNvGraphicFramePr>
          <p:nvPr/>
        </p:nvGraphicFramePr>
        <p:xfrm>
          <a:off x="566928" y="3886200"/>
          <a:ext cx="5577840" cy="1755648"/>
        </p:xfrm>
        <a:graphic>
          <a:graphicData uri="http://schemas.openxmlformats.org/drawingml/2006/table">
            <a:tbl>
              <a:tblPr firstRow="1" bandRow="1">
                <a:tableStyleId>{5C22544A-7EE6-4342-B048-85BDC9FD1C3A}</a:tableStyleId>
              </a:tblPr>
              <a:tblGrid>
                <a:gridCol w="929640"/>
                <a:gridCol w="929640"/>
                <a:gridCol w="929640"/>
                <a:gridCol w="929640"/>
                <a:gridCol w="929640"/>
                <a:gridCol w="929640"/>
              </a:tblGrid>
              <a:tr h="292608">
                <a:tc>
                  <a:txBody>
                    <a:bodyPr/>
                    <a:lstStyle/>
                    <a:p>
                      <a:pPr algn="l"/>
                      <a:r>
                        <a:rPr sz="1000" b="1">
                          <a:solidFill>
                            <a:srgbClr val="FFFFFF"/>
                          </a:solidFill>
                        </a:rPr>
                        <a:t>Model</a:t>
                      </a:r>
                    </a:p>
                  </a:txBody>
                  <a:tcPr/>
                </a:tc>
                <a:tc>
                  <a:txBody>
                    <a:bodyPr/>
                    <a:lstStyle/>
                    <a:p>
                      <a:pPr algn="l"/>
                      <a:r>
                        <a:rPr sz="1000" b="1">
                          <a:solidFill>
                            <a:srgbClr val="FFFFFF"/>
                          </a:solidFill>
                        </a:rPr>
                        <a:t>Recall</a:t>
                      </a:r>
                    </a:p>
                  </a:txBody>
                  <a:tcPr/>
                </a:tc>
                <a:tc>
                  <a:txBody>
                    <a:bodyPr/>
                    <a:lstStyle/>
                    <a:p>
                      <a:pPr algn="l"/>
                      <a:r>
                        <a:rPr sz="1000" b="1">
                          <a:solidFill>
                            <a:srgbClr val="FFFFFF"/>
                          </a:solidFill>
                        </a:rPr>
                        <a:t>Precision</a:t>
                      </a:r>
                    </a:p>
                  </a:txBody>
                  <a:tcPr/>
                </a:tc>
                <a:tc>
                  <a:txBody>
                    <a:bodyPr/>
                    <a:lstStyle/>
                    <a:p>
                      <a:pPr algn="l"/>
                      <a:r>
                        <a:rPr sz="1000" b="1">
                          <a:solidFill>
                            <a:srgbClr val="FFFFFF"/>
                          </a:solidFill>
                        </a:rPr>
                        <a:t>F1</a:t>
                      </a:r>
                    </a:p>
                  </a:txBody>
                  <a:tcPr/>
                </a:tc>
                <a:tc>
                  <a:txBody>
                    <a:bodyPr/>
                    <a:lstStyle/>
                    <a:p>
                      <a:pPr algn="l"/>
                      <a:r>
                        <a:rPr sz="1000" b="1">
                          <a:solidFill>
                            <a:srgbClr val="FFFFFF"/>
                          </a:solidFill>
                        </a:rPr>
                        <a:t>PR-AUC</a:t>
                      </a:r>
                    </a:p>
                  </a:txBody>
                  <a:tcPr/>
                </a:tc>
                <a:tc>
                  <a:txBody>
                    <a:bodyPr/>
                    <a:lstStyle/>
                    <a:p>
                      <a:pPr algn="l"/>
                      <a:r>
                        <a:rPr sz="1000" b="1">
                          <a:solidFill>
                            <a:srgbClr val="FFFFFF"/>
                          </a:solidFill>
                        </a:rPr>
                        <a:t>FPR</a:t>
                      </a:r>
                    </a:p>
                  </a:txBody>
                  <a:tcPr/>
                </a:tc>
              </a:tr>
              <a:tr h="292608">
                <a:tc>
                  <a:txBody>
                    <a:bodyPr/>
                    <a:lstStyle/>
                    <a:p>
                      <a:pPr algn="l"/>
                      <a:r>
                        <a:rPr sz="1000"/>
                        <a:t>Logistic Regression</a:t>
                      </a:r>
                    </a:p>
                  </a:txBody>
                  <a:tcPr/>
                </a:tc>
                <a:tc>
                  <a:txBody>
                    <a:bodyPr/>
                    <a:lstStyle/>
                    <a:p>
                      <a:pPr algn="l"/>
                      <a:r>
                        <a:rPr sz="1000"/>
                        <a:t>0.9517</a:t>
                      </a:r>
                    </a:p>
                  </a:txBody>
                  <a:tcPr/>
                </a:tc>
                <a:tc>
                  <a:txBody>
                    <a:bodyPr/>
                    <a:lstStyle/>
                    <a:p>
                      <a:pPr algn="l"/>
                      <a:r>
                        <a:rPr sz="1000"/>
                        <a:t>0.5901</a:t>
                      </a:r>
                    </a:p>
                  </a:txBody>
                  <a:tcPr/>
                </a:tc>
                <a:tc>
                  <a:txBody>
                    <a:bodyPr/>
                    <a:lstStyle/>
                    <a:p>
                      <a:pPr algn="l"/>
                      <a:r>
                        <a:rPr sz="1000"/>
                        <a:t>0.7285</a:t>
                      </a:r>
                    </a:p>
                  </a:txBody>
                  <a:tcPr/>
                </a:tc>
                <a:tc>
                  <a:txBody>
                    <a:bodyPr/>
                    <a:lstStyle/>
                    <a:p>
                      <a:pPr algn="l"/>
                      <a:r>
                        <a:rPr sz="1000"/>
                        <a:t>0.8789</a:t>
                      </a:r>
                    </a:p>
                  </a:txBody>
                  <a:tcPr/>
                </a:tc>
                <a:tc>
                  <a:txBody>
                    <a:bodyPr/>
                    <a:lstStyle/>
                    <a:p>
                      <a:pPr algn="l"/>
                      <a:r>
                        <a:rPr sz="1000"/>
                        <a:t>37.273%</a:t>
                      </a:r>
                    </a:p>
                  </a:txBody>
                  <a:tcPr/>
                </a:tc>
              </a:tr>
              <a:tr h="292608">
                <a:tc>
                  <a:txBody>
                    <a:bodyPr/>
                    <a:lstStyle/>
                    <a:p>
                      <a:pPr algn="l"/>
                      <a:r>
                        <a:rPr sz="1000"/>
                        <a:t>Random Forest</a:t>
                      </a:r>
                    </a:p>
                  </a:txBody>
                  <a:tcPr/>
                </a:tc>
                <a:tc>
                  <a:txBody>
                    <a:bodyPr/>
                    <a:lstStyle/>
                    <a:p>
                      <a:pPr algn="l"/>
                      <a:r>
                        <a:rPr sz="1000"/>
                        <a:t>0.9752</a:t>
                      </a:r>
                    </a:p>
                  </a:txBody>
                  <a:tcPr/>
                </a:tc>
                <a:tc>
                  <a:txBody>
                    <a:bodyPr/>
                    <a:lstStyle/>
                    <a:p>
                      <a:pPr algn="l"/>
                      <a:r>
                        <a:rPr sz="1000"/>
                        <a:t>0.6784</a:t>
                      </a:r>
                    </a:p>
                  </a:txBody>
                  <a:tcPr/>
                </a:tc>
                <a:tc>
                  <a:txBody>
                    <a:bodyPr/>
                    <a:lstStyle/>
                    <a:p>
                      <a:pPr algn="l"/>
                      <a:r>
                        <a:rPr sz="1000"/>
                        <a:t>0.8002</a:t>
                      </a:r>
                    </a:p>
                  </a:txBody>
                  <a:tcPr/>
                </a:tc>
                <a:tc>
                  <a:txBody>
                    <a:bodyPr/>
                    <a:lstStyle/>
                    <a:p>
                      <a:pPr algn="l"/>
                      <a:r>
                        <a:rPr sz="1000"/>
                        <a:t>0.9493</a:t>
                      </a:r>
                    </a:p>
                  </a:txBody>
                  <a:tcPr/>
                </a:tc>
                <a:tc>
                  <a:txBody>
                    <a:bodyPr/>
                    <a:lstStyle/>
                    <a:p>
                      <a:pPr algn="l"/>
                      <a:r>
                        <a:rPr sz="1000"/>
                        <a:t>26.068%</a:t>
                      </a:r>
                    </a:p>
                  </a:txBody>
                  <a:tcPr/>
                </a:tc>
              </a:tr>
              <a:tr h="292608">
                <a:tc>
                  <a:txBody>
                    <a:bodyPr/>
                    <a:lstStyle/>
                    <a:p>
                      <a:pPr algn="l"/>
                      <a:r>
                        <a:rPr sz="1000"/>
                        <a:t>XGBoost</a:t>
                      </a:r>
                    </a:p>
                  </a:txBody>
                  <a:tcPr/>
                </a:tc>
                <a:tc>
                  <a:txBody>
                    <a:bodyPr/>
                    <a:lstStyle/>
                    <a:p>
                      <a:pPr algn="l"/>
                      <a:r>
                        <a:rPr sz="1000"/>
                        <a:t>0.9622</a:t>
                      </a:r>
                    </a:p>
                  </a:txBody>
                  <a:tcPr/>
                </a:tc>
                <a:tc>
                  <a:txBody>
                    <a:bodyPr/>
                    <a:lstStyle/>
                    <a:p>
                      <a:pPr algn="l"/>
                      <a:r>
                        <a:rPr sz="1000"/>
                        <a:t>0.6800</a:t>
                      </a:r>
                    </a:p>
                  </a:txBody>
                  <a:tcPr/>
                </a:tc>
                <a:tc>
                  <a:txBody>
                    <a:bodyPr/>
                    <a:lstStyle/>
                    <a:p>
                      <a:pPr algn="l"/>
                      <a:r>
                        <a:rPr sz="1000"/>
                        <a:t>0.7968</a:t>
                      </a:r>
                    </a:p>
                  </a:txBody>
                  <a:tcPr/>
                </a:tc>
                <a:tc>
                  <a:txBody>
                    <a:bodyPr/>
                    <a:lstStyle/>
                    <a:p>
                      <a:pPr algn="l"/>
                      <a:r>
                        <a:rPr sz="1000"/>
                        <a:t>0.9526</a:t>
                      </a:r>
                    </a:p>
                  </a:txBody>
                  <a:tcPr/>
                </a:tc>
                <a:tc>
                  <a:txBody>
                    <a:bodyPr/>
                    <a:lstStyle/>
                    <a:p>
                      <a:pPr algn="l"/>
                      <a:r>
                        <a:rPr sz="1000"/>
                        <a:t>25.536%</a:t>
                      </a:r>
                    </a:p>
                  </a:txBody>
                  <a:tcPr/>
                </a:tc>
              </a:tr>
              <a:tr h="292608">
                <a:tc>
                  <a:txBody>
                    <a:bodyPr/>
                    <a:lstStyle/>
                    <a:p>
                      <a:pPr algn="l"/>
                      <a:r>
                        <a:rPr sz="1000"/>
                        <a:t>LightGBM</a:t>
                      </a:r>
                    </a:p>
                  </a:txBody>
                  <a:tcPr/>
                </a:tc>
                <a:tc>
                  <a:txBody>
                    <a:bodyPr/>
                    <a:lstStyle/>
                    <a:p>
                      <a:pPr algn="l"/>
                      <a:r>
                        <a:rPr sz="1000"/>
                        <a:t>0.9604</a:t>
                      </a:r>
                    </a:p>
                  </a:txBody>
                  <a:tcPr/>
                </a:tc>
                <a:tc>
                  <a:txBody>
                    <a:bodyPr/>
                    <a:lstStyle/>
                    <a:p>
                      <a:pPr algn="l"/>
                      <a:r>
                        <a:rPr sz="1000"/>
                        <a:t>0.6695</a:t>
                      </a:r>
                    </a:p>
                  </a:txBody>
                  <a:tcPr/>
                </a:tc>
                <a:tc>
                  <a:txBody>
                    <a:bodyPr/>
                    <a:lstStyle/>
                    <a:p>
                      <a:pPr algn="l"/>
                      <a:r>
                        <a:rPr sz="1000"/>
                        <a:t>0.7890</a:t>
                      </a:r>
                    </a:p>
                  </a:txBody>
                  <a:tcPr/>
                </a:tc>
                <a:tc>
                  <a:txBody>
                    <a:bodyPr/>
                    <a:lstStyle/>
                    <a:p>
                      <a:pPr algn="l"/>
                      <a:r>
                        <a:rPr sz="1000"/>
                        <a:t>0.9485</a:t>
                      </a:r>
                    </a:p>
                  </a:txBody>
                  <a:tcPr/>
                </a:tc>
                <a:tc>
                  <a:txBody>
                    <a:bodyPr/>
                    <a:lstStyle/>
                    <a:p>
                      <a:pPr algn="l"/>
                      <a:r>
                        <a:rPr sz="1000"/>
                        <a:t>26.736%</a:t>
                      </a:r>
                    </a:p>
                  </a:txBody>
                  <a:tcPr/>
                </a:tc>
              </a:tr>
              <a:tr h="292608">
                <a:tc>
                  <a:txBody>
                    <a:bodyPr/>
                    <a:lstStyle/>
                    <a:p>
                      <a:pPr algn="l"/>
                      <a:r>
                        <a:rPr sz="1000"/>
                        <a:t>Isolation Forest</a:t>
                      </a:r>
                    </a:p>
                  </a:txBody>
                  <a:tcPr/>
                </a:tc>
                <a:tc>
                  <a:txBody>
                    <a:bodyPr/>
                    <a:lstStyle/>
                    <a:p>
                      <a:pPr algn="l"/>
                      <a:r>
                        <a:rPr sz="1000"/>
                        <a:t>0.3265</a:t>
                      </a:r>
                    </a:p>
                  </a:txBody>
                  <a:tcPr/>
                </a:tc>
                <a:tc>
                  <a:txBody>
                    <a:bodyPr/>
                    <a:lstStyle/>
                    <a:p>
                      <a:pPr algn="l"/>
                      <a:r>
                        <a:rPr sz="1000"/>
                        <a:t>0.5164</a:t>
                      </a:r>
                    </a:p>
                  </a:txBody>
                  <a:tcPr/>
                </a:tc>
                <a:tc>
                  <a:txBody>
                    <a:bodyPr/>
                    <a:lstStyle/>
                    <a:p>
                      <a:pPr algn="l"/>
                      <a:r>
                        <a:rPr sz="1000"/>
                        <a:t>0.4001</a:t>
                      </a:r>
                    </a:p>
                  </a:txBody>
                  <a:tcPr/>
                </a:tc>
                <a:tc>
                  <a:txBody>
                    <a:bodyPr/>
                    <a:lstStyle/>
                    <a:p>
                      <a:pPr algn="l"/>
                      <a:r>
                        <a:rPr sz="1000"/>
                        <a:t>0.5047</a:t>
                      </a:r>
                    </a:p>
                  </a:txBody>
                  <a:tcPr/>
                </a:tc>
                <a:tc>
                  <a:txBody>
                    <a:bodyPr/>
                    <a:lstStyle/>
                    <a:p>
                      <a:pPr algn="l"/>
                      <a:r>
                        <a:rPr sz="1000"/>
                        <a:t>17.242%</a:t>
                      </a:r>
                    </a:p>
                  </a:txBody>
                  <a:tcPr/>
                </a:tc>
              </a:tr>
            </a:tbl>
          </a:graphicData>
        </a:graphic>
      </p:graphicFrame>
      <p:pic>
        <p:nvPicPr>
          <p:cNvPr id="6" name="Picture 5" descr="fig16_model_comparison.png"/>
          <p:cNvPicPr>
            <a:picLocks noChangeAspect="1"/>
          </p:cNvPicPr>
          <p:nvPr/>
        </p:nvPicPr>
        <p:blipFill>
          <a:blip r:embed="rId2"/>
          <a:stretch>
            <a:fillRect/>
          </a:stretch>
        </p:blipFill>
        <p:spPr>
          <a:xfrm>
            <a:off x="6355080" y="1463040"/>
            <a:ext cx="5269687" cy="1758034"/>
          </a:xfrm>
          <a:prstGeom prst="rect">
            <a:avLst/>
          </a:prstGeom>
        </p:spPr>
      </p:pic>
      <p:sp>
        <p:nvSpPr>
          <p:cNvPr id="7" name="TextBox 6"/>
          <p:cNvSpPr txBox="1"/>
          <p:nvPr/>
        </p:nvSpPr>
        <p:spPr>
          <a:xfrm>
            <a:off x="10957255" y="6355080"/>
            <a:ext cx="822960" cy="320040"/>
          </a:xfrm>
          <a:prstGeom prst="rect">
            <a:avLst/>
          </a:prstGeom>
          <a:noFill/>
        </p:spPr>
        <p:txBody>
          <a:bodyPr wrap="square">
            <a:spAutoFit/>
          </a:bodyPr>
          <a:lstStyle/>
          <a:p>
            <a:pPr algn="r"/>
            <a:r>
              <a:rPr sz="1000">
                <a:solidFill>
                  <a:srgbClr val="555555"/>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57839" cy="868680"/>
          </a:xfrm>
          <a:prstGeom prst="rect">
            <a:avLst/>
          </a:prstGeom>
          <a:noFill/>
        </p:spPr>
        <p:txBody>
          <a:bodyPr wrap="square">
            <a:spAutoFit/>
          </a:bodyPr>
          <a:lstStyle/>
          <a:p>
            <a:r>
              <a:rPr sz="2800" b="1">
                <a:solidFill>
                  <a:srgbClr val="1F3A5F"/>
                </a:solidFill>
              </a:rPr>
              <a:t>Explainability</a:t>
            </a:r>
          </a:p>
        </p:txBody>
      </p:sp>
      <p:sp>
        <p:nvSpPr>
          <p:cNvPr id="4" name="TextBox 3"/>
          <p:cNvSpPr txBox="1"/>
          <p:nvPr/>
        </p:nvSpPr>
        <p:spPr>
          <a:xfrm>
            <a:off x="566928" y="1325880"/>
            <a:ext cx="5577840" cy="4846320"/>
          </a:xfrm>
          <a:prstGeom prst="rect">
            <a:avLst/>
          </a:prstGeom>
          <a:noFill/>
        </p:spPr>
        <p:txBody>
          <a:bodyPr wrap="square">
            <a:spAutoFit/>
          </a:bodyPr>
          <a:lstStyle/>
          <a:p>
            <a:pPr>
              <a:spcAft>
                <a:spcPts val="800"/>
              </a:spcAft>
            </a:pPr>
            <a:r>
              <a:rPr sz="1500" b="0">
                <a:solidFill>
                  <a:srgbClr val="2A2A2A"/>
                </a:solidFill>
              </a:rPr>
              <a:t>•  </a:t>
            </a:r>
            <a:r>
              <a:rPr sz="1500" b="0">
                <a:solidFill>
                  <a:srgbClr val="2A2A2A"/>
                </a:solidFill>
              </a:rPr>
              <a:t>SHAP TreeExplainer: global importance, beeswarm, dependence, and four local cases (TP / TN / FP / FN)</a:t>
            </a:r>
          </a:p>
          <a:p>
            <a:pPr>
              <a:spcAft>
                <a:spcPts val="800"/>
              </a:spcAft>
            </a:pPr>
            <a:r>
              <a:rPr sz="1500" b="0">
                <a:solidFill>
                  <a:srgbClr val="2A2A2A"/>
                </a:solidFill>
              </a:rPr>
              <a:t>•  </a:t>
            </a:r>
            <a:r>
              <a:rPr sz="1500" b="0">
                <a:solidFill>
                  <a:srgbClr val="2A2A2A"/>
                </a:solidFill>
              </a:rPr>
              <a:t>Top drivers: sttl, ct_state_ttl, ct_srv_dst, ct_dst_src_ltm, dttl</a:t>
            </a:r>
          </a:p>
          <a:p>
            <a:pPr>
              <a:spcAft>
                <a:spcPts val="800"/>
              </a:spcAft>
            </a:pPr>
            <a:r>
              <a:rPr sz="1500" b="0">
                <a:solidFill>
                  <a:srgbClr val="2A2A2A"/>
                </a:solidFill>
              </a:rPr>
              <a:t>•  </a:t>
            </a:r>
            <a:r>
              <a:rPr sz="1500" b="1">
                <a:solidFill>
                  <a:srgbClr val="2A2A2A"/>
                </a:solidFill>
              </a:rPr>
              <a:t>Toward ATTACK:</a:t>
            </a:r>
            <a:r>
              <a:rPr sz="1500" b="0">
                <a:solidFill>
                  <a:srgbClr val="2A2A2A"/>
                </a:solidFill>
              </a:rPr>
              <a:t> high source TTL, no destination response, no completed handshake, asymmetric direction</a:t>
            </a:r>
          </a:p>
          <a:p>
            <a:pPr>
              <a:spcAft>
                <a:spcPts val="800"/>
              </a:spcAft>
            </a:pPr>
            <a:r>
              <a:rPr sz="1500" b="0">
                <a:solidFill>
                  <a:srgbClr val="2A2A2A"/>
                </a:solidFill>
              </a:rPr>
              <a:t>•  </a:t>
            </a:r>
            <a:r>
              <a:rPr sz="1500" b="1">
                <a:solidFill>
                  <a:srgbClr val="2A2A2A"/>
                </a:solidFill>
              </a:rPr>
              <a:t>Toward BENIGN:</a:t>
            </a:r>
            <a:r>
              <a:rPr sz="1500" b="0">
                <a:solidFill>
                  <a:srgbClr val="2A2A2A"/>
                </a:solidFill>
              </a:rPr>
              <a:t> completed handshake with sequence exchange, balanced bidirectional volume, identified service</a:t>
            </a:r>
          </a:p>
          <a:p>
            <a:pPr>
              <a:spcAft>
                <a:spcPts val="800"/>
              </a:spcAft>
            </a:pPr>
            <a:r>
              <a:rPr sz="1500" b="0">
                <a:solidFill>
                  <a:srgbClr val="2A2A2A"/>
                </a:solidFill>
              </a:rPr>
              <a:t>•  </a:t>
            </a:r>
            <a:r>
              <a:rPr sz="1500" b="1">
                <a:solidFill>
                  <a:srgbClr val="2A2A2A"/>
                </a:solidFill>
              </a:rPr>
              <a:t>Artefact diagnostic:</a:t>
            </a:r>
            <a:r>
              <a:rPr sz="1500" b="0">
                <a:solidFill>
                  <a:srgbClr val="2A2A2A"/>
                </a:solidFill>
              </a:rPr>
              <a:t> the TTL family carries 53% of total attributed impact</a:t>
            </a:r>
          </a:p>
        </p:txBody>
      </p:sp>
      <p:pic>
        <p:nvPicPr>
          <p:cNvPr id="5" name="Picture 4" descr="fig21_shap_beeswarm.png"/>
          <p:cNvPicPr>
            <a:picLocks noChangeAspect="1"/>
          </p:cNvPicPr>
          <p:nvPr/>
        </p:nvPicPr>
        <p:blipFill>
          <a:blip r:embed="rId2"/>
          <a:stretch>
            <a:fillRect/>
          </a:stretch>
        </p:blipFill>
        <p:spPr>
          <a:xfrm>
            <a:off x="6355080" y="1463040"/>
            <a:ext cx="4523926" cy="4892040"/>
          </a:xfrm>
          <a:prstGeom prst="rect">
            <a:avLst/>
          </a:prstGeom>
        </p:spPr>
      </p:pic>
      <p:sp>
        <p:nvSpPr>
          <p:cNvPr id="6" name="TextBox 5"/>
          <p:cNvSpPr txBox="1"/>
          <p:nvPr/>
        </p:nvSpPr>
        <p:spPr>
          <a:xfrm>
            <a:off x="10957255" y="6355080"/>
            <a:ext cx="822960" cy="320040"/>
          </a:xfrm>
          <a:prstGeom prst="rect">
            <a:avLst/>
          </a:prstGeom>
          <a:noFill/>
        </p:spPr>
        <p:txBody>
          <a:bodyPr wrap="square">
            <a:spAutoFit/>
          </a:bodyPr>
          <a:lstStyle/>
          <a:p>
            <a:pPr algn="r"/>
            <a:r>
              <a:rPr sz="1000">
                <a:solidFill>
                  <a:srgbClr val="555555"/>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57839" cy="868680"/>
          </a:xfrm>
          <a:prstGeom prst="rect">
            <a:avLst/>
          </a:prstGeom>
          <a:noFill/>
        </p:spPr>
        <p:txBody>
          <a:bodyPr wrap="square">
            <a:spAutoFit/>
          </a:bodyPr>
          <a:lstStyle/>
          <a:p>
            <a:r>
              <a:rPr sz="2800" b="1">
                <a:solidFill>
                  <a:srgbClr val="1F3A5F"/>
                </a:solidFill>
              </a:rPr>
              <a:t>Error &amp; Bias Analysis</a:t>
            </a:r>
          </a:p>
        </p:txBody>
      </p:sp>
      <p:sp>
        <p:nvSpPr>
          <p:cNvPr id="4" name="TextBox 3"/>
          <p:cNvSpPr txBox="1"/>
          <p:nvPr/>
        </p:nvSpPr>
        <p:spPr>
          <a:xfrm>
            <a:off x="566928" y="1325880"/>
            <a:ext cx="5577840" cy="4846320"/>
          </a:xfrm>
          <a:prstGeom prst="rect">
            <a:avLst/>
          </a:prstGeom>
          <a:noFill/>
        </p:spPr>
        <p:txBody>
          <a:bodyPr wrap="square">
            <a:spAutoFit/>
          </a:bodyPr>
          <a:lstStyle/>
          <a:p>
            <a:pPr>
              <a:spcAft>
                <a:spcPts val="800"/>
              </a:spcAft>
            </a:pPr>
            <a:r>
              <a:rPr sz="1500" b="0">
                <a:solidFill>
                  <a:srgbClr val="2A2A2A"/>
                </a:solidFill>
              </a:rPr>
              <a:t>•  </a:t>
            </a:r>
            <a:r>
              <a:rPr sz="1500" b="0">
                <a:solidFill>
                  <a:srgbClr val="2A2A2A"/>
                </a:solidFill>
              </a:rPr>
              <a:t>Recall varies substantially by attack family; weakest: Fuzzers (84%), Analysis (97%), Shellcode (99%), Exploits (99%)</a:t>
            </a:r>
          </a:p>
          <a:p>
            <a:pPr>
              <a:spcAft>
                <a:spcPts val="800"/>
              </a:spcAft>
            </a:pPr>
            <a:r>
              <a:rPr sz="1500" b="0">
                <a:solidFill>
                  <a:srgbClr val="2A2A2A"/>
                </a:solidFill>
              </a:rPr>
              <a:t>•  </a:t>
            </a:r>
            <a:r>
              <a:rPr sz="1500" b="0">
                <a:solidFill>
                  <a:srgbClr val="2A2A2A"/>
                </a:solidFill>
              </a:rPr>
              <a:t>Three distinguishable mechanisms: </a:t>
            </a:r>
            <a:r>
              <a:rPr sz="1500" b="1">
                <a:solidFill>
                  <a:srgbClr val="2A2A2A"/>
                </a:solidFill>
              </a:rPr>
              <a:t>scarcity</a:t>
            </a:r>
            <a:r>
              <a:rPr sz="1500" b="0">
                <a:solidFill>
                  <a:srgbClr val="2A2A2A"/>
                </a:solidFill>
              </a:rPr>
              <a:t> (fixable with data), </a:t>
            </a:r>
            <a:r>
              <a:rPr sz="1500" b="1">
                <a:solidFill>
                  <a:srgbClr val="2A2A2A"/>
                </a:solidFill>
              </a:rPr>
              <a:t>behavioural overlap with benign traffic</a:t>
            </a:r>
            <a:r>
              <a:rPr sz="1500" b="0">
                <a:solidFill>
                  <a:srgbClr val="2A2A2A"/>
                </a:solidFill>
              </a:rPr>
              <a:t> (not fixable), </a:t>
            </a:r>
            <a:r>
              <a:rPr sz="1500" b="1">
                <a:solidFill>
                  <a:srgbClr val="2A2A2A"/>
                </a:solidFill>
              </a:rPr>
              <a:t>duplication-distorted training counts</a:t>
            </a:r>
          </a:p>
          <a:p>
            <a:pPr>
              <a:spcAft>
                <a:spcPts val="800"/>
              </a:spcAft>
            </a:pPr>
            <a:r>
              <a:rPr sz="1500" b="0">
                <a:solidFill>
                  <a:srgbClr val="2A2A2A"/>
                </a:solidFill>
              </a:rPr>
              <a:t>•  </a:t>
            </a:r>
            <a:r>
              <a:rPr sz="1500" b="0">
                <a:solidFill>
                  <a:srgbClr val="2A2A2A"/>
                </a:solidFill>
              </a:rPr>
              <a:t>Missed attacks are </a:t>
            </a:r>
            <a:r>
              <a:rPr sz="1500" b="1">
                <a:solidFill>
                  <a:srgbClr val="2A2A2A"/>
                </a:solidFill>
              </a:rPr>
              <a:t>near-misses</a:t>
            </a:r>
            <a:r>
              <a:rPr sz="1500" b="0">
                <a:solidFill>
                  <a:srgbClr val="2A2A2A"/>
                </a:solidFill>
              </a:rPr>
              <a:t> — median score 0.27 against a 0.465 threshold, only 17% below 0.10, so the threshold is the dominant lever and borderline review genuinely helps</a:t>
            </a:r>
          </a:p>
          <a:p>
            <a:pPr>
              <a:spcAft>
                <a:spcPts val="800"/>
              </a:spcAft>
            </a:pPr>
            <a:r>
              <a:rPr sz="1500" b="0">
                <a:solidFill>
                  <a:srgbClr val="2A2A2A"/>
                </a:solidFill>
              </a:rPr>
              <a:t>•  </a:t>
            </a:r>
            <a:r>
              <a:rPr sz="1500" b="0">
                <a:solidFill>
                  <a:srgbClr val="2A2A2A"/>
                </a:solidFill>
              </a:rPr>
              <a:t>False alerts concentrate in specific services → actionable via per-service thresholds</a:t>
            </a:r>
          </a:p>
          <a:p>
            <a:pPr>
              <a:spcAft>
                <a:spcPts val="800"/>
              </a:spcAft>
            </a:pPr>
            <a:r>
              <a:rPr sz="1500" b="0">
                <a:solidFill>
                  <a:srgbClr val="2A2A2A"/>
                </a:solidFill>
              </a:rPr>
              <a:t>•  </a:t>
            </a:r>
            <a:r>
              <a:rPr sz="1500" b="1">
                <a:solidFill>
                  <a:srgbClr val="2A2A2A"/>
                </a:solidFill>
              </a:rPr>
              <a:t>UNSW-NB15 has no demographic attributes.</a:t>
            </a:r>
            <a:r>
              <a:rPr sz="1500" b="0">
                <a:solidFill>
                  <a:srgbClr val="2A2A2A"/>
                </a:solidFill>
              </a:rPr>
              <a:t> This is an operational performance audit; no demographic fairness claim is made or possible</a:t>
            </a:r>
          </a:p>
        </p:txBody>
      </p:sp>
      <p:pic>
        <p:nvPicPr>
          <p:cNvPr id="5" name="Picture 4" descr="fig18_subgroup_audit.png"/>
          <p:cNvPicPr>
            <a:picLocks noChangeAspect="1"/>
          </p:cNvPicPr>
          <p:nvPr/>
        </p:nvPicPr>
        <p:blipFill>
          <a:blip r:embed="rId2"/>
          <a:stretch>
            <a:fillRect/>
          </a:stretch>
        </p:blipFill>
        <p:spPr>
          <a:xfrm>
            <a:off x="6355080" y="1463040"/>
            <a:ext cx="5269687" cy="2198425"/>
          </a:xfrm>
          <a:prstGeom prst="rect">
            <a:avLst/>
          </a:prstGeom>
        </p:spPr>
      </p:pic>
      <p:sp>
        <p:nvSpPr>
          <p:cNvPr id="6" name="TextBox 5"/>
          <p:cNvSpPr txBox="1"/>
          <p:nvPr/>
        </p:nvSpPr>
        <p:spPr>
          <a:xfrm>
            <a:off x="10957255" y="6355080"/>
            <a:ext cx="822960" cy="320040"/>
          </a:xfrm>
          <a:prstGeom prst="rect">
            <a:avLst/>
          </a:prstGeom>
          <a:noFill/>
        </p:spPr>
        <p:txBody>
          <a:bodyPr wrap="square">
            <a:spAutoFit/>
          </a:bodyPr>
          <a:lstStyle/>
          <a:p>
            <a:pPr algn="r"/>
            <a:r>
              <a:rPr sz="1000">
                <a:solidFill>
                  <a:srgbClr val="555555"/>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57839" cy="868680"/>
          </a:xfrm>
          <a:prstGeom prst="rect">
            <a:avLst/>
          </a:prstGeom>
          <a:noFill/>
        </p:spPr>
        <p:txBody>
          <a:bodyPr wrap="square">
            <a:spAutoFit/>
          </a:bodyPr>
          <a:lstStyle/>
          <a:p>
            <a:r>
              <a:rPr sz="2800" b="1">
                <a:solidFill>
                  <a:srgbClr val="1F3A5F"/>
                </a:solidFill>
              </a:rPr>
              <a:t>Ablations: what is the number actually measuring?</a:t>
            </a:r>
          </a:p>
        </p:txBody>
      </p:sp>
      <p:sp>
        <p:nvSpPr>
          <p:cNvPr id="4" name="TextBox 3"/>
          <p:cNvSpPr txBox="1"/>
          <p:nvPr/>
        </p:nvSpPr>
        <p:spPr>
          <a:xfrm>
            <a:off x="566928" y="1325880"/>
            <a:ext cx="5577840" cy="4846320"/>
          </a:xfrm>
          <a:prstGeom prst="rect">
            <a:avLst/>
          </a:prstGeom>
          <a:noFill/>
        </p:spPr>
        <p:txBody>
          <a:bodyPr wrap="square">
            <a:spAutoFit/>
          </a:bodyPr>
          <a:lstStyle/>
          <a:p>
            <a:pPr>
              <a:spcAft>
                <a:spcPts val="800"/>
              </a:spcAft>
            </a:pPr>
            <a:r>
              <a:rPr sz="1300" b="0">
                <a:solidFill>
                  <a:srgbClr val="2A2A2A"/>
                </a:solidFill>
              </a:rPr>
              <a:t>•  </a:t>
            </a:r>
            <a:r>
              <a:rPr sz="1300" b="1">
                <a:solidFill>
                  <a:srgbClr val="2A2A2A"/>
                </a:solidFill>
              </a:rPr>
              <a:t>Pooled random split → F1 +0.1226.</a:t>
            </a:r>
            <a:r>
              <a:rPr sz="1300" b="0">
                <a:solidFill>
                  <a:srgbClr val="2A2A2A"/>
                </a:solidFill>
              </a:rPr>
              <a:t> The protocol most published results use. We report the harder published partition instead</a:t>
            </a:r>
          </a:p>
          <a:p>
            <a:pPr>
              <a:spcAft>
                <a:spcPts val="800"/>
              </a:spcAft>
            </a:pPr>
            <a:r>
              <a:rPr sz="1300" b="0">
                <a:solidFill>
                  <a:srgbClr val="2A2A2A"/>
                </a:solidFill>
              </a:rPr>
              <a:t>•  </a:t>
            </a:r>
            <a:r>
              <a:rPr sz="1300" b="1">
                <a:solidFill>
                  <a:srgbClr val="2A2A2A"/>
                </a:solidFill>
              </a:rPr>
              <a:t>Duplicates retained → F1 +0.0507</a:t>
            </a:r>
            <a:r>
              <a:rPr sz="1300" b="0">
                <a:solidFill>
                  <a:srgbClr val="2A2A2A"/>
                </a:solidFill>
              </a:rPr>
              <a:t> (vs the pooled split)</a:t>
            </a:r>
            <a:r>
              <a:rPr sz="1300" b="1">
                <a:solidFill>
                  <a:srgbClr val="2A2A2A"/>
                </a:solidFill>
              </a:rPr>
              <a:t>.</a:t>
            </a:r>
            <a:r>
              <a:rPr sz="1300" b="0">
                <a:solidFill>
                  <a:srgbClr val="2A2A2A"/>
                </a:solidFill>
              </a:rPr>
              <a:t> Skipping deduplication hands back a better-looking number for no better model</a:t>
            </a:r>
          </a:p>
          <a:p>
            <a:pPr>
              <a:spcAft>
                <a:spcPts val="800"/>
              </a:spcAft>
            </a:pPr>
            <a:r>
              <a:rPr sz="1300" b="0">
                <a:solidFill>
                  <a:srgbClr val="2A2A2A"/>
                </a:solidFill>
              </a:rPr>
              <a:t>•  </a:t>
            </a:r>
            <a:r>
              <a:rPr sz="1300" b="1">
                <a:solidFill>
                  <a:srgbClr val="2A2A2A"/>
                </a:solidFill>
              </a:rPr>
              <a:t>TTL removed → F1 -0.0089.</a:t>
            </a:r>
            <a:r>
              <a:rPr sz="1300" b="0">
                <a:solidFill>
                  <a:srgbClr val="2A2A2A"/>
                </a:solidFill>
              </a:rPr>
              <a:t> SHAP's top feature is used far more than it is needed — the model re-routes through correlated features</a:t>
            </a:r>
          </a:p>
          <a:p>
            <a:pPr>
              <a:spcAft>
                <a:spcPts val="800"/>
              </a:spcAft>
            </a:pPr>
            <a:r>
              <a:rPr sz="1300" b="0">
                <a:solidFill>
                  <a:srgbClr val="2A2A2A"/>
                </a:solidFill>
              </a:rPr>
              <a:t>•  </a:t>
            </a:r>
            <a:r>
              <a:rPr sz="1300" b="1">
                <a:solidFill>
                  <a:srgbClr val="2A2A2A"/>
                </a:solidFill>
              </a:rPr>
              <a:t>No engineered features → F1 +0.0035.</a:t>
            </a:r>
            <a:r>
              <a:rPr sz="1300" b="0">
                <a:solidFill>
                  <a:srgbClr val="2A2A2A"/>
                </a:solidFill>
              </a:rPr>
              <a:t> The 15 domain features buy interpretability, not accuracy — reported as the negative result it is</a:t>
            </a:r>
          </a:p>
          <a:p>
            <a:pPr>
              <a:spcAft>
                <a:spcPts val="800"/>
              </a:spcAft>
            </a:pPr>
            <a:r>
              <a:rPr sz="1300" b="0">
                <a:solidFill>
                  <a:srgbClr val="2A2A2A"/>
                </a:solidFill>
              </a:rPr>
              <a:t>•  </a:t>
            </a:r>
            <a:r>
              <a:rPr sz="1300" b="1">
                <a:solidFill>
                  <a:srgbClr val="2A2A2A"/>
                </a:solidFill>
              </a:rPr>
              <a:t>SMOTE → F1 -0.0027.</a:t>
            </a:r>
            <a:r>
              <a:rPr sz="1300" b="0">
                <a:solidFill>
                  <a:srgbClr val="2A2A2A"/>
                </a:solidFill>
              </a:rPr>
              <a:t> Tested rather than assumed, and not adopted</a:t>
            </a:r>
          </a:p>
          <a:p>
            <a:pPr>
              <a:spcAft>
                <a:spcPts val="800"/>
              </a:spcAft>
            </a:pPr>
            <a:r>
              <a:rPr sz="1300" b="0">
                <a:solidFill>
                  <a:srgbClr val="2A2A2A"/>
                </a:solidFill>
              </a:rPr>
              <a:t>•  </a:t>
            </a:r>
            <a:r>
              <a:rPr sz="1300" b="1">
                <a:solidFill>
                  <a:srgbClr val="2A2A2A"/>
                </a:solidFill>
              </a:rPr>
              <a:t>Partition as distributed → F1 +0.1017.</a:t>
            </a:r>
            <a:r>
              <a:rPr sz="1300" b="0">
                <a:solidFill>
                  <a:srgbClr val="2A2A2A"/>
                </a:solidFill>
              </a:rPr>
              <a:t> What the two cleaning steps (dedup each side, remove train/test overlap) are worth</a:t>
            </a:r>
          </a:p>
        </p:txBody>
      </p:sp>
      <p:graphicFrame>
        <p:nvGraphicFramePr>
          <p:cNvPr id="5" name="Table 4"/>
          <p:cNvGraphicFramePr>
            <a:graphicFrameLocks noGrp="1"/>
          </p:cNvGraphicFramePr>
          <p:nvPr/>
        </p:nvGraphicFramePr>
        <p:xfrm>
          <a:off x="566928" y="3886200"/>
          <a:ext cx="5577840" cy="2340864"/>
        </p:xfrm>
        <a:graphic>
          <a:graphicData uri="http://schemas.openxmlformats.org/drawingml/2006/table">
            <a:tbl>
              <a:tblPr firstRow="1" bandRow="1">
                <a:tableStyleId>{5C22544A-7EE6-4342-B048-85BDC9FD1C3A}</a:tableStyleId>
              </a:tblPr>
              <a:tblGrid>
                <a:gridCol w="1394460"/>
                <a:gridCol w="1394460"/>
                <a:gridCol w="1394460"/>
                <a:gridCol w="1394460"/>
              </a:tblGrid>
              <a:tr h="292608">
                <a:tc>
                  <a:txBody>
                    <a:bodyPr/>
                    <a:lstStyle/>
                    <a:p>
                      <a:pPr algn="l"/>
                      <a:r>
                        <a:rPr sz="1000" b="1">
                          <a:solidFill>
                            <a:srgbClr val="FFFFFF"/>
                          </a:solidFill>
                        </a:rPr>
                        <a:t>Experiment</a:t>
                      </a:r>
                    </a:p>
                  </a:txBody>
                  <a:tcPr/>
                </a:tc>
                <a:tc>
                  <a:txBody>
                    <a:bodyPr/>
                    <a:lstStyle/>
                    <a:p>
                      <a:pPr algn="l"/>
                      <a:r>
                        <a:rPr sz="1000" b="1">
                          <a:solidFill>
                            <a:srgbClr val="FFFFFF"/>
                          </a:solidFill>
                        </a:rPr>
                        <a:t>Recall</a:t>
                      </a:r>
                    </a:p>
                  </a:txBody>
                  <a:tcPr/>
                </a:tc>
                <a:tc>
                  <a:txBody>
                    <a:bodyPr/>
                    <a:lstStyle/>
                    <a:p>
                      <a:pPr algn="l"/>
                      <a:r>
                        <a:rPr sz="1000" b="1">
                          <a:solidFill>
                            <a:srgbClr val="FFFFFF"/>
                          </a:solidFill>
                        </a:rPr>
                        <a:t>F1</a:t>
                      </a:r>
                    </a:p>
                  </a:txBody>
                  <a:tcPr/>
                </a:tc>
                <a:tc>
                  <a:txBody>
                    <a:bodyPr/>
                    <a:lstStyle/>
                    <a:p>
                      <a:pPr algn="l"/>
                      <a:r>
                        <a:rPr sz="1000" b="1">
                          <a:solidFill>
                            <a:srgbClr val="FFFFFF"/>
                          </a:solidFill>
                        </a:rPr>
                        <a:t>PR-AUC</a:t>
                      </a:r>
                    </a:p>
                  </a:txBody>
                  <a:tcPr/>
                </a:tc>
              </a:tr>
              <a:tr h="292608">
                <a:tc>
                  <a:txBody>
                    <a:bodyPr/>
                    <a:lstStyle/>
                    <a:p>
                      <a:pPr algn="l"/>
                      <a:r>
                        <a:rPr sz="1000"/>
                        <a:t>Primary protocol (published partition)</a:t>
                      </a:r>
                    </a:p>
                  </a:txBody>
                  <a:tcPr/>
                </a:tc>
                <a:tc>
                  <a:txBody>
                    <a:bodyPr/>
                    <a:lstStyle/>
                    <a:p>
                      <a:pPr algn="l"/>
                      <a:r>
                        <a:rPr sz="1000"/>
                        <a:t>0.9604</a:t>
                      </a:r>
                    </a:p>
                  </a:txBody>
                  <a:tcPr/>
                </a:tc>
                <a:tc>
                  <a:txBody>
                    <a:bodyPr/>
                    <a:lstStyle/>
                    <a:p>
                      <a:pPr algn="l"/>
                      <a:r>
                        <a:rPr sz="1000"/>
                        <a:t>0.7890</a:t>
                      </a:r>
                    </a:p>
                  </a:txBody>
                  <a:tcPr/>
                </a:tc>
                <a:tc>
                  <a:txBody>
                    <a:bodyPr/>
                    <a:lstStyle/>
                    <a:p>
                      <a:pPr algn="l"/>
                      <a:r>
                        <a:rPr sz="1000"/>
                        <a:t>0.9485</a:t>
                      </a:r>
                    </a:p>
                  </a:txBody>
                  <a:tcPr/>
                </a:tc>
              </a:tr>
              <a:tr h="292608">
                <a:tc>
                  <a:txBody>
                    <a:bodyPr/>
                    <a:lstStyle/>
                    <a:p>
                      <a:pPr algn="l"/>
                      <a:r>
                        <a:rPr sz="1000"/>
                        <a:t>Pooled random split</a:t>
                      </a:r>
                    </a:p>
                  </a:txBody>
                  <a:tcPr/>
                </a:tc>
                <a:tc>
                  <a:txBody>
                    <a:bodyPr/>
                    <a:lstStyle/>
                    <a:p>
                      <a:pPr algn="l"/>
                      <a:r>
                        <a:rPr sz="1000"/>
                        <a:t>0.9022</a:t>
                      </a:r>
                    </a:p>
                  </a:txBody>
                  <a:tcPr/>
                </a:tc>
                <a:tc>
                  <a:txBody>
                    <a:bodyPr/>
                    <a:lstStyle/>
                    <a:p>
                      <a:pPr algn="l"/>
                      <a:r>
                        <a:rPr sz="1000"/>
                        <a:t>0.9116</a:t>
                      </a:r>
                    </a:p>
                  </a:txBody>
                  <a:tcPr/>
                </a:tc>
                <a:tc>
                  <a:txBody>
                    <a:bodyPr/>
                    <a:lstStyle/>
                    <a:p>
                      <a:pPr algn="l"/>
                      <a:r>
                        <a:rPr sz="1000"/>
                        <a:t>0.9793</a:t>
                      </a:r>
                    </a:p>
                  </a:txBody>
                  <a:tcPr/>
                </a:tc>
              </a:tr>
              <a:tr h="292608">
                <a:tc>
                  <a:txBody>
                    <a:bodyPr/>
                    <a:lstStyle/>
                    <a:p>
                      <a:pPr algn="l"/>
                      <a:r>
                        <a:rPr sz="1000"/>
                        <a:t>Duplicates retained</a:t>
                      </a:r>
                    </a:p>
                  </a:txBody>
                  <a:tcPr/>
                </a:tc>
                <a:tc>
                  <a:txBody>
                    <a:bodyPr/>
                    <a:lstStyle/>
                    <a:p>
                      <a:pPr algn="l"/>
                      <a:r>
                        <a:rPr sz="1000"/>
                        <a:t>0.9516</a:t>
                      </a:r>
                    </a:p>
                  </a:txBody>
                  <a:tcPr/>
                </a:tc>
                <a:tc>
                  <a:txBody>
                    <a:bodyPr/>
                    <a:lstStyle/>
                    <a:p>
                      <a:pPr algn="l"/>
                      <a:r>
                        <a:rPr sz="1000"/>
                        <a:t>0.9623</a:t>
                      </a:r>
                    </a:p>
                  </a:txBody>
                  <a:tcPr/>
                </a:tc>
                <a:tc>
                  <a:txBody>
                    <a:bodyPr/>
                    <a:lstStyle/>
                    <a:p>
                      <a:pPr algn="l"/>
                      <a:r>
                        <a:rPr sz="1000"/>
                        <a:t>0.9959</a:t>
                      </a:r>
                    </a:p>
                  </a:txBody>
                  <a:tcPr/>
                </a:tc>
              </a:tr>
              <a:tr h="292608">
                <a:tc>
                  <a:txBody>
                    <a:bodyPr/>
                    <a:lstStyle/>
                    <a:p>
                      <a:pPr algn="l"/>
                      <a:r>
                        <a:rPr sz="1000"/>
                        <a:t>TTL features removed</a:t>
                      </a:r>
                    </a:p>
                  </a:txBody>
                  <a:tcPr/>
                </a:tc>
                <a:tc>
                  <a:txBody>
                    <a:bodyPr/>
                    <a:lstStyle/>
                    <a:p>
                      <a:pPr algn="l"/>
                      <a:r>
                        <a:rPr sz="1000"/>
                        <a:t>0.9606</a:t>
                      </a:r>
                    </a:p>
                  </a:txBody>
                  <a:tcPr/>
                </a:tc>
                <a:tc>
                  <a:txBody>
                    <a:bodyPr/>
                    <a:lstStyle/>
                    <a:p>
                      <a:pPr algn="l"/>
                      <a:r>
                        <a:rPr sz="1000"/>
                        <a:t>0.7801</a:t>
                      </a:r>
                    </a:p>
                  </a:txBody>
                  <a:tcPr/>
                </a:tc>
                <a:tc>
                  <a:txBody>
                    <a:bodyPr/>
                    <a:lstStyle/>
                    <a:p>
                      <a:pPr algn="l"/>
                      <a:r>
                        <a:rPr sz="1000"/>
                        <a:t>0.9441</a:t>
                      </a:r>
                    </a:p>
                  </a:txBody>
                  <a:tcPr/>
                </a:tc>
              </a:tr>
              <a:tr h="292608">
                <a:tc>
                  <a:txBody>
                    <a:bodyPr/>
                    <a:lstStyle/>
                    <a:p>
                      <a:pPr algn="l"/>
                      <a:r>
                        <a:rPr sz="1000"/>
                        <a:t>Engineered features removed</a:t>
                      </a:r>
                    </a:p>
                  </a:txBody>
                  <a:tcPr/>
                </a:tc>
                <a:tc>
                  <a:txBody>
                    <a:bodyPr/>
                    <a:lstStyle/>
                    <a:p>
                      <a:pPr algn="l"/>
                      <a:r>
                        <a:rPr sz="1000"/>
                        <a:t>0.9625</a:t>
                      </a:r>
                    </a:p>
                  </a:txBody>
                  <a:tcPr/>
                </a:tc>
                <a:tc>
                  <a:txBody>
                    <a:bodyPr/>
                    <a:lstStyle/>
                    <a:p>
                      <a:pPr algn="l"/>
                      <a:r>
                        <a:rPr sz="1000"/>
                        <a:t>0.7925</a:t>
                      </a:r>
                    </a:p>
                  </a:txBody>
                  <a:tcPr/>
                </a:tc>
                <a:tc>
                  <a:txBody>
                    <a:bodyPr/>
                    <a:lstStyle/>
                    <a:p>
                      <a:pPr algn="l"/>
                      <a:r>
                        <a:rPr sz="1000"/>
                        <a:t>0.9484</a:t>
                      </a:r>
                    </a:p>
                  </a:txBody>
                  <a:tcPr/>
                </a:tc>
              </a:tr>
              <a:tr h="292608">
                <a:tc>
                  <a:txBody>
                    <a:bodyPr/>
                    <a:lstStyle/>
                    <a:p>
                      <a:pPr algn="l"/>
                      <a:r>
                        <a:rPr sz="1000"/>
                        <a:t>SMOTE instead of class weights</a:t>
                      </a:r>
                    </a:p>
                  </a:txBody>
                  <a:tcPr/>
                </a:tc>
                <a:tc>
                  <a:txBody>
                    <a:bodyPr/>
                    <a:lstStyle/>
                    <a:p>
                      <a:pPr algn="l"/>
                      <a:r>
                        <a:rPr sz="1000"/>
                        <a:t>0.9652</a:t>
                      </a:r>
                    </a:p>
                  </a:txBody>
                  <a:tcPr/>
                </a:tc>
                <a:tc>
                  <a:txBody>
                    <a:bodyPr/>
                    <a:lstStyle/>
                    <a:p>
                      <a:pPr algn="l"/>
                      <a:r>
                        <a:rPr sz="1000"/>
                        <a:t>0.7863</a:t>
                      </a:r>
                    </a:p>
                  </a:txBody>
                  <a:tcPr/>
                </a:tc>
                <a:tc>
                  <a:txBody>
                    <a:bodyPr/>
                    <a:lstStyle/>
                    <a:p>
                      <a:pPr algn="l"/>
                      <a:r>
                        <a:rPr sz="1000"/>
                        <a:t>0.9486</a:t>
                      </a:r>
                    </a:p>
                  </a:txBody>
                  <a:tcPr/>
                </a:tc>
              </a:tr>
              <a:tr h="292608">
                <a:tc>
                  <a:txBody>
                    <a:bodyPr/>
                    <a:lstStyle/>
                    <a:p>
                      <a:pPr algn="l"/>
                      <a:r>
                        <a:rPr sz="1000"/>
                        <a:t>Published partition, as distributed</a:t>
                      </a:r>
                    </a:p>
                  </a:txBody>
                  <a:tcPr/>
                </a:tc>
                <a:tc>
                  <a:txBody>
                    <a:bodyPr/>
                    <a:lstStyle/>
                    <a:p>
                      <a:pPr algn="l"/>
                      <a:r>
                        <a:rPr sz="1000"/>
                        <a:t>0.9799</a:t>
                      </a:r>
                    </a:p>
                  </a:txBody>
                  <a:tcPr/>
                </a:tc>
                <a:tc>
                  <a:txBody>
                    <a:bodyPr/>
                    <a:lstStyle/>
                    <a:p>
                      <a:pPr algn="l"/>
                      <a:r>
                        <a:rPr sz="1000"/>
                        <a:t>0.8907</a:t>
                      </a:r>
                    </a:p>
                  </a:txBody>
                  <a:tcPr/>
                </a:tc>
                <a:tc>
                  <a:txBody>
                    <a:bodyPr/>
                    <a:lstStyle/>
                    <a:p>
                      <a:pPr algn="l"/>
                      <a:r>
                        <a:rPr sz="1000"/>
                        <a:t>0.9872</a:t>
                      </a:r>
                    </a:p>
                  </a:txBody>
                  <a:tcPr/>
                </a:tc>
              </a:tr>
            </a:tbl>
          </a:graphicData>
        </a:graphic>
      </p:graphicFrame>
      <p:pic>
        <p:nvPicPr>
          <p:cNvPr id="6" name="Picture 5" descr="fig19_ablation_comparison.png"/>
          <p:cNvPicPr>
            <a:picLocks noChangeAspect="1"/>
          </p:cNvPicPr>
          <p:nvPr/>
        </p:nvPicPr>
        <p:blipFill>
          <a:blip r:embed="rId2"/>
          <a:stretch>
            <a:fillRect/>
          </a:stretch>
        </p:blipFill>
        <p:spPr>
          <a:xfrm>
            <a:off x="6355080" y="1463040"/>
            <a:ext cx="5269687" cy="2184771"/>
          </a:xfrm>
          <a:prstGeom prst="rect">
            <a:avLst/>
          </a:prstGeom>
        </p:spPr>
      </p:pic>
      <p:sp>
        <p:nvSpPr>
          <p:cNvPr id="7" name="TextBox 6"/>
          <p:cNvSpPr txBox="1"/>
          <p:nvPr/>
        </p:nvSpPr>
        <p:spPr>
          <a:xfrm>
            <a:off x="10957255" y="6355080"/>
            <a:ext cx="822960" cy="320040"/>
          </a:xfrm>
          <a:prstGeom prst="rect">
            <a:avLst/>
          </a:prstGeom>
          <a:noFill/>
        </p:spPr>
        <p:txBody>
          <a:bodyPr wrap="square">
            <a:spAutoFit/>
          </a:bodyPr>
          <a:lstStyle/>
          <a:p>
            <a:pPr algn="r"/>
            <a:r>
              <a:rPr sz="1000">
                <a:solidFill>
                  <a:srgbClr val="555555"/>
                </a:solidFil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57839" cy="868680"/>
          </a:xfrm>
          <a:prstGeom prst="rect">
            <a:avLst/>
          </a:prstGeom>
          <a:noFill/>
        </p:spPr>
        <p:txBody>
          <a:bodyPr wrap="square">
            <a:spAutoFit/>
          </a:bodyPr>
          <a:lstStyle/>
          <a:p>
            <a:r>
              <a:rPr sz="2800" b="1">
                <a:solidFill>
                  <a:srgbClr val="1F3A5F"/>
                </a:solidFill>
              </a:rPr>
              <a:t>Deployment Architecture &amp; Threshold</a:t>
            </a:r>
          </a:p>
        </p:txBody>
      </p:sp>
      <p:sp>
        <p:nvSpPr>
          <p:cNvPr id="4" name="TextBox 3"/>
          <p:cNvSpPr txBox="1"/>
          <p:nvPr/>
        </p:nvSpPr>
        <p:spPr>
          <a:xfrm>
            <a:off x="566928" y="1325880"/>
            <a:ext cx="5577840" cy="4846320"/>
          </a:xfrm>
          <a:prstGeom prst="rect">
            <a:avLst/>
          </a:prstGeom>
          <a:noFill/>
        </p:spPr>
        <p:txBody>
          <a:bodyPr wrap="square">
            <a:spAutoFit/>
          </a:bodyPr>
          <a:lstStyle/>
          <a:p>
            <a:pPr>
              <a:spcAft>
                <a:spcPts val="800"/>
              </a:spcAft>
            </a:pPr>
            <a:r>
              <a:rPr sz="1500" b="0">
                <a:solidFill>
                  <a:srgbClr val="2A2A2A"/>
                </a:solidFill>
              </a:rPr>
              <a:t>•  </a:t>
            </a:r>
            <a:r>
              <a:rPr sz="1500" b="0">
                <a:solidFill>
                  <a:srgbClr val="2A2A2A"/>
                </a:solidFill>
              </a:rPr>
              <a:t>Flow collector → feature extraction → model → </a:t>
            </a:r>
            <a:r>
              <a:rPr sz="1500" b="1">
                <a:solidFill>
                  <a:srgbClr val="2A2A2A"/>
                </a:solidFill>
              </a:rPr>
              <a:t>risk-banded triage queue</a:t>
            </a:r>
            <a:r>
              <a:rPr sz="1500" b="0">
                <a:solidFill>
                  <a:srgbClr val="2A2A2A"/>
                </a:solidFill>
              </a:rPr>
              <a:t> → analyst → response</a:t>
            </a:r>
          </a:p>
          <a:p>
            <a:pPr>
              <a:spcAft>
                <a:spcPts val="800"/>
              </a:spcAft>
            </a:pPr>
            <a:r>
              <a:rPr sz="1500" b="0">
                <a:solidFill>
                  <a:srgbClr val="2A2A2A"/>
                </a:solidFill>
              </a:rPr>
              <a:t>•  </a:t>
            </a:r>
            <a:r>
              <a:rPr sz="1500" b="0">
                <a:solidFill>
                  <a:srgbClr val="2A2A2A"/>
                </a:solidFill>
              </a:rPr>
              <a:t>Operating threshold </a:t>
            </a:r>
            <a:r>
              <a:rPr sz="1500" b="1">
                <a:solidFill>
                  <a:srgbClr val="2A2A2A"/>
                </a:solidFill>
              </a:rPr>
              <a:t>0.465</a:t>
            </a:r>
            <a:r>
              <a:rPr sz="1500" b="0">
                <a:solidFill>
                  <a:srgbClr val="2A2A2A"/>
                </a:solidFill>
              </a:rPr>
              <a:t>, chosen on validation; a low-FPR alternative is published for capacity-limited SOCs</a:t>
            </a:r>
          </a:p>
          <a:p>
            <a:pPr>
              <a:spcAft>
                <a:spcPts val="800"/>
              </a:spcAft>
            </a:pPr>
            <a:r>
              <a:rPr sz="1500" b="0">
                <a:solidFill>
                  <a:srgbClr val="2A2A2A"/>
                </a:solidFill>
              </a:rPr>
              <a:t>•  </a:t>
            </a:r>
            <a:r>
              <a:rPr sz="1500" b="0">
                <a:solidFill>
                  <a:srgbClr val="2A2A2A"/>
                </a:solidFill>
              </a:rPr>
              <a:t>Cost assumption stated openly: 20:1 FN:FP, with a sensitivity table</a:t>
            </a:r>
          </a:p>
          <a:p>
            <a:pPr>
              <a:spcAft>
                <a:spcPts val="800"/>
              </a:spcAft>
            </a:pPr>
            <a:r>
              <a:rPr sz="1500" b="0">
                <a:solidFill>
                  <a:srgbClr val="2A2A2A"/>
                </a:solidFill>
              </a:rPr>
              <a:t>•  </a:t>
            </a:r>
            <a:r>
              <a:rPr sz="1500" b="0">
                <a:solidFill>
                  <a:srgbClr val="2A2A2A"/>
                </a:solidFill>
              </a:rPr>
              <a:t>Measured throughput: </a:t>
            </a:r>
            <a:r>
              <a:rPr sz="1500" b="1">
                <a:solidFill>
                  <a:srgbClr val="2A2A2A"/>
                </a:solidFill>
              </a:rPr>
              <a:t>82,396 flows/second</a:t>
            </a:r>
            <a:r>
              <a:rPr sz="1500" b="0">
                <a:solidFill>
                  <a:srgbClr val="2A2A2A"/>
                </a:solidFill>
              </a:rPr>
              <a:t> on one commodity CPU</a:t>
            </a:r>
          </a:p>
          <a:p>
            <a:pPr>
              <a:spcAft>
                <a:spcPts val="800"/>
              </a:spcAft>
            </a:pPr>
            <a:r>
              <a:rPr sz="1500" b="0">
                <a:solidFill>
                  <a:srgbClr val="2A2A2A"/>
                </a:solidFill>
              </a:rPr>
              <a:t>•  </a:t>
            </a:r>
            <a:r>
              <a:rPr sz="1500" b="0">
                <a:solidFill>
                  <a:srgbClr val="2A2A2A"/>
                </a:solidFill>
              </a:rPr>
              <a:t>Streamlit prototype: single-flow scoring, batch upload, live threshold control, per-alert SHAP</a:t>
            </a:r>
          </a:p>
        </p:txBody>
      </p:sp>
      <p:pic>
        <p:nvPicPr>
          <p:cNvPr id="5" name="Picture 4" descr="fig17_threshold_analysis.png"/>
          <p:cNvPicPr>
            <a:picLocks noChangeAspect="1"/>
          </p:cNvPicPr>
          <p:nvPr/>
        </p:nvPicPr>
        <p:blipFill>
          <a:blip r:embed="rId2"/>
          <a:stretch>
            <a:fillRect/>
          </a:stretch>
        </p:blipFill>
        <p:spPr>
          <a:xfrm>
            <a:off x="6355080" y="1463040"/>
            <a:ext cx="5269687" cy="1746979"/>
          </a:xfrm>
          <a:prstGeom prst="rect">
            <a:avLst/>
          </a:prstGeom>
        </p:spPr>
      </p:pic>
      <p:sp>
        <p:nvSpPr>
          <p:cNvPr id="6" name="TextBox 5"/>
          <p:cNvSpPr txBox="1"/>
          <p:nvPr/>
        </p:nvSpPr>
        <p:spPr>
          <a:xfrm>
            <a:off x="10957255" y="6355080"/>
            <a:ext cx="822960" cy="320040"/>
          </a:xfrm>
          <a:prstGeom prst="rect">
            <a:avLst/>
          </a:prstGeom>
          <a:noFill/>
        </p:spPr>
        <p:txBody>
          <a:bodyPr wrap="square">
            <a:spAutoFit/>
          </a:bodyPr>
          <a:lstStyle/>
          <a:p>
            <a:pPr algn="r"/>
            <a:r>
              <a:rPr sz="1000">
                <a:solidFill>
                  <a:srgbClr val="555555"/>
                </a:solidFil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57839" cy="868680"/>
          </a:xfrm>
          <a:prstGeom prst="rect">
            <a:avLst/>
          </a:prstGeom>
          <a:noFill/>
        </p:spPr>
        <p:txBody>
          <a:bodyPr wrap="square">
            <a:spAutoFit/>
          </a:bodyPr>
          <a:lstStyle/>
          <a:p>
            <a:r>
              <a:rPr sz="2800" b="1">
                <a:solidFill>
                  <a:srgbClr val="1F3A5F"/>
                </a:solidFill>
              </a:rPr>
              <a:t>Limitations &amp; Conclusions</a:t>
            </a:r>
          </a:p>
        </p:txBody>
      </p:sp>
      <p:sp>
        <p:nvSpPr>
          <p:cNvPr id="4" name="TextBox 3"/>
          <p:cNvSpPr txBox="1"/>
          <p:nvPr/>
        </p:nvSpPr>
        <p:spPr>
          <a:xfrm>
            <a:off x="566928" y="1325880"/>
            <a:ext cx="11057839" cy="4846320"/>
          </a:xfrm>
          <a:prstGeom prst="rect">
            <a:avLst/>
          </a:prstGeom>
          <a:noFill/>
        </p:spPr>
        <p:txBody>
          <a:bodyPr wrap="square">
            <a:spAutoFit/>
          </a:bodyPr>
          <a:lstStyle/>
          <a:p>
            <a:pPr>
              <a:spcAft>
                <a:spcPts val="800"/>
              </a:spcAft>
            </a:pPr>
            <a:r>
              <a:rPr sz="1500" b="0">
                <a:solidFill>
                  <a:srgbClr val="2A2A2A"/>
                </a:solidFill>
              </a:rPr>
              <a:t>•  </a:t>
            </a:r>
            <a:r>
              <a:rPr sz="1500" b="1">
                <a:solidFill>
                  <a:srgbClr val="2A2A2A"/>
                </a:solidFill>
              </a:rPr>
              <a:t>Achieved:</a:t>
            </a:r>
            <a:r>
              <a:rPr sz="1500" b="0">
                <a:solidFill>
                  <a:srgbClr val="2A2A2A"/>
                </a:solidFill>
              </a:rPr>
              <a:t> F1 0.7890, ROC-AUC 0.9648, PR-AUC 0.9485, recall 96.04%, FPR 26.736% — 3/4 pre-registered targets met on this harder protocol (F1 short); all met on the pooled random split</a:t>
            </a:r>
          </a:p>
          <a:p>
            <a:pPr>
              <a:spcAft>
                <a:spcPts val="800"/>
              </a:spcAft>
            </a:pPr>
            <a:r>
              <a:rPr sz="1500" b="0">
                <a:solidFill>
                  <a:srgbClr val="2A2A2A"/>
                </a:solidFill>
              </a:rPr>
              <a:t>•  </a:t>
            </a:r>
            <a:r>
              <a:rPr sz="1500" b="1">
                <a:solidFill>
                  <a:srgbClr val="2A2A2A"/>
                </a:solidFill>
              </a:rPr>
              <a:t>Qualified by:</a:t>
            </a:r>
            <a:r>
              <a:rPr sz="1500" b="0">
                <a:solidFill>
                  <a:srgbClr val="2A2A2A"/>
                </a:solidFill>
              </a:rPr>
              <a:t> a capture artefact the model leans on far more than it needs (measured by ablation, not assumed), uneven per-family recall, and precision that will not transfer to a production base rate</a:t>
            </a:r>
          </a:p>
          <a:p>
            <a:pPr>
              <a:spcAft>
                <a:spcPts val="800"/>
              </a:spcAft>
            </a:pPr>
            <a:r>
              <a:rPr sz="1500" b="0">
                <a:solidFill>
                  <a:srgbClr val="2A2A2A"/>
                </a:solidFill>
              </a:rPr>
              <a:t>•  </a:t>
            </a:r>
            <a:r>
              <a:rPr sz="1500" b="1">
                <a:solidFill>
                  <a:srgbClr val="2A2A2A"/>
                </a:solidFill>
              </a:rPr>
              <a:t>Cannot measure:</a:t>
            </a:r>
            <a:r>
              <a:rPr sz="1500" b="0">
                <a:solidFill>
                  <a:srgbClr val="2A2A2A"/>
                </a:solidFill>
              </a:rPr>
              <a:t> concept drift — timestamps were removed from the partitioned files</a:t>
            </a:r>
          </a:p>
          <a:p>
            <a:pPr>
              <a:spcAft>
                <a:spcPts val="800"/>
              </a:spcAft>
            </a:pPr>
            <a:r>
              <a:rPr sz="1500" b="0">
                <a:solidFill>
                  <a:srgbClr val="2A2A2A"/>
                </a:solidFill>
              </a:rPr>
              <a:t>•  </a:t>
            </a:r>
            <a:r>
              <a:rPr sz="1500" b="1">
                <a:solidFill>
                  <a:srgbClr val="2A2A2A"/>
                </a:solidFill>
              </a:rPr>
              <a:t>Recommendation:</a:t>
            </a:r>
            <a:r>
              <a:rPr sz="1500" b="0">
                <a:solidFill>
                  <a:srgbClr val="2A2A2A"/>
                </a:solidFill>
              </a:rPr>
              <a:t> human-in-the-loop triage ranking, recalibrated on target-network traffic. Not autonomous blocking</a:t>
            </a:r>
          </a:p>
          <a:p>
            <a:pPr>
              <a:spcAft>
                <a:spcPts val="800"/>
              </a:spcAft>
            </a:pPr>
            <a:r>
              <a:rPr sz="1500" b="0">
                <a:solidFill>
                  <a:srgbClr val="2A2A2A"/>
                </a:solidFill>
              </a:rPr>
              <a:t>•  </a:t>
            </a:r>
            <a:r>
              <a:rPr sz="1500" b="1">
                <a:solidFill>
                  <a:srgbClr val="2A2A2A"/>
                </a:solidFill>
              </a:rPr>
              <a:t>Next:</a:t>
            </a:r>
            <a:r>
              <a:rPr sz="1500" b="0">
                <a:solidFill>
                  <a:srgbClr val="2A2A2A"/>
                </a:solidFill>
              </a:rPr>
              <a:t> multiclass family classification, cross-dataset validation (CIC-IDS2017), adversarial robustness testing</a:t>
            </a:r>
          </a:p>
        </p:txBody>
      </p:sp>
      <p:sp>
        <p:nvSpPr>
          <p:cNvPr id="5" name="TextBox 4"/>
          <p:cNvSpPr txBox="1"/>
          <p:nvPr/>
        </p:nvSpPr>
        <p:spPr>
          <a:xfrm>
            <a:off x="10957255" y="6355080"/>
            <a:ext cx="822960" cy="320040"/>
          </a:xfrm>
          <a:prstGeom prst="rect">
            <a:avLst/>
          </a:prstGeom>
          <a:noFill/>
        </p:spPr>
        <p:txBody>
          <a:bodyPr wrap="square">
            <a:spAutoFit/>
          </a:bodyPr>
          <a:lstStyle/>
          <a:p>
            <a:pPr algn="r"/>
            <a:r>
              <a:rPr sz="1000">
                <a:solidFill>
                  <a:srgbClr val="555555"/>
                </a:solidFill>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